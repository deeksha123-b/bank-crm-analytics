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8.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0.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9"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lang="en-US" sz="1300" b="1" i="0" u="none" strike="noStrike">
                <a:solidFill>
                  <a:srgbClr val="262626"/>
                </a:solidFill>
                <a:latin typeface="Calibri"/>
              </a:rPr>
              <a:t>Churn rate by joining year (%)</a:t>
            </a:r>
          </a:p>
        </c:rich>
      </c:tx>
      <c:overlay val="0"/>
    </c:title>
    <c:autoTitleDeleted val="0"/>
    <c:plotArea>
      <c:layout/>
      <c:lineChart>
        <c:grouping val="standard"/>
        <c:varyColors val="0"/>
        <c:ser>
          <c:idx val="0"/>
          <c:order val="0"/>
          <c:tx>
            <c:strRef>
              <c:f>Sheet1!$B$1</c:f>
              <c:strCache>
                <c:ptCount val="1"/>
                <c:pt idx="0">
                  <c:v>Churn rate by joining year (%)</c:v>
                </c:pt>
              </c:strCache>
            </c:strRef>
          </c:tx>
          <c:spPr>
            <a:ln w="38100" cap="flat">
              <a:solidFill>
                <a:srgbClr val="E0C22E"/>
              </a:solidFill>
              <a:prstDash val="solid"/>
              <a:round/>
            </a:ln>
            <a:effectLst/>
          </c:spPr>
          <c:marker>
            <c:symbol val="circle"/>
            <c:size val="9"/>
            <c:spPr>
              <a:solidFill>
                <a:srgbClr val="E0C22E"/>
              </a:solidFill>
              <a:ln w="9525" cap="flat">
                <a:solidFill>
                  <a:srgbClr val="E0C22E"/>
                </a:solidFill>
                <a:prstDash val="solid"/>
                <a:round/>
              </a:ln>
              <a:effectLst/>
            </c:spPr>
          </c:marker>
          <c:dLbls>
            <c:numFmt formatCode="0.0" sourceLinked="0"/>
            <c:spPr>
              <a:noFill/>
              <a:ln>
                <a:noFill/>
              </a:ln>
              <a:effectLst/>
            </c:spPr>
            <c:txPr>
              <a:bodyPr/>
              <a:lstStyle/>
              <a:p>
                <a:pPr>
                  <a:defRPr sz="1100" b="0" i="0" u="none" strike="noStrike">
                    <a:solidFill>
                      <a:srgbClr val="262626"/>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2016</c:v>
                </c:pt>
                <c:pt idx="1">
                  <c:v>2017</c:v>
                </c:pt>
                <c:pt idx="2">
                  <c:v>2018</c:v>
                </c:pt>
                <c:pt idx="3">
                  <c:v>2019</c:v>
                </c:pt>
              </c:strCache>
            </c:strRef>
          </c:cat>
          <c:val>
            <c:numRef>
              <c:f>Sheet1!$B$2:$B$5</c:f>
              <c:numCache>
                <c:formatCode>General</c:formatCode>
                <c:ptCount val="4"/>
                <c:pt idx="0">
                  <c:v>19.27</c:v>
                </c:pt>
                <c:pt idx="1">
                  <c:v>22.35</c:v>
                </c:pt>
                <c:pt idx="2">
                  <c:v>20.21</c:v>
                </c:pt>
                <c:pt idx="3">
                  <c:v>19.86</c:v>
                </c:pt>
              </c:numCache>
            </c:numRef>
          </c:val>
          <c:smooth val="0"/>
          <c:extLst>
            <c:ext xmlns:c16="http://schemas.microsoft.com/office/drawing/2014/chart" uri="{C3380CC4-5D6E-409C-BE32-E72D297353CC}">
              <c16:uniqueId val="{00000000-C205-4418-956A-90B7EBD9C27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25"/>
          <c:min val="15"/>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By age group (%)</a:t>
            </a:r>
          </a:p>
        </c:rich>
      </c:tx>
      <c:overlay val="0"/>
    </c:title>
    <c:autoTitleDeleted val="0"/>
    <c:plotArea>
      <c:layout/>
      <c:barChart>
        <c:barDir val="col"/>
        <c:grouping val="clustered"/>
        <c:varyColors val="0"/>
        <c:ser>
          <c:idx val="0"/>
          <c:order val="0"/>
          <c:tx>
            <c:strRef>
              <c:f>Sheet1!$B$1</c:f>
              <c:strCache>
                <c:ptCount val="1"/>
                <c:pt idx="0">
                  <c:v>By age group (%)</c:v>
                </c:pt>
              </c:strCache>
            </c:strRef>
          </c:tx>
          <c:spPr>
            <a:solidFill>
              <a:srgbClr val="B8B8B8"/>
            </a:solidFill>
            <a:effectLst/>
          </c:spPr>
          <c:invertIfNegative val="0"/>
          <c:dPt>
            <c:idx val="0"/>
            <c:invertIfNegative val="0"/>
            <c:bubble3D val="0"/>
            <c:extLst>
              <c:ext xmlns:c16="http://schemas.microsoft.com/office/drawing/2014/chart" uri="{C3380CC4-5D6E-409C-BE32-E72D297353CC}">
                <c16:uniqueId val="{00000001-5415-4A48-99EC-E85AC3522AA0}"/>
              </c:ext>
            </c:extLst>
          </c:dPt>
          <c:dPt>
            <c:idx val="1"/>
            <c:invertIfNegative val="0"/>
            <c:bubble3D val="0"/>
            <c:extLst>
              <c:ext xmlns:c16="http://schemas.microsoft.com/office/drawing/2014/chart" uri="{C3380CC4-5D6E-409C-BE32-E72D297353CC}">
                <c16:uniqueId val="{00000003-5415-4A48-99EC-E85AC3522AA0}"/>
              </c:ext>
            </c:extLst>
          </c:dPt>
          <c:dPt>
            <c:idx val="2"/>
            <c:invertIfNegative val="0"/>
            <c:bubble3D val="0"/>
            <c:spPr>
              <a:solidFill>
                <a:srgbClr val="E0C22E"/>
              </a:solidFill>
              <a:effectLst/>
            </c:spPr>
            <c:extLst>
              <c:ext xmlns:c16="http://schemas.microsoft.com/office/drawing/2014/chart" uri="{C3380CC4-5D6E-409C-BE32-E72D297353CC}">
                <c16:uniqueId val="{00000005-5415-4A48-99EC-E85AC3522AA0}"/>
              </c:ext>
            </c:extLst>
          </c:dPt>
          <c:dLbls>
            <c:numFmt formatCode="0.00&quot;%&quot;"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18–30</c:v>
                </c:pt>
                <c:pt idx="1">
                  <c:v>30–50</c:v>
                </c:pt>
                <c:pt idx="2">
                  <c:v>50+</c:v>
                </c:pt>
              </c:strCache>
            </c:strRef>
          </c:cat>
          <c:val>
            <c:numRef>
              <c:f>Sheet1!$B$2:$B$4</c:f>
              <c:numCache>
                <c:formatCode>General</c:formatCode>
                <c:ptCount val="3"/>
                <c:pt idx="0">
                  <c:v>7.56</c:v>
                </c:pt>
                <c:pt idx="1">
                  <c:v>18.37</c:v>
                </c:pt>
                <c:pt idx="2">
                  <c:v>45.45</c:v>
                </c:pt>
              </c:numCache>
            </c:numRef>
          </c:val>
          <c:extLst>
            <c:ext xmlns:c16="http://schemas.microsoft.com/office/drawing/2014/chart" uri="{C3380CC4-5D6E-409C-BE32-E72D297353CC}">
              <c16:uniqueId val="{00000006-5415-4A48-99EC-E85AC3522AA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5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By geography (%)</a:t>
            </a:r>
          </a:p>
        </c:rich>
      </c:tx>
      <c:overlay val="0"/>
    </c:title>
    <c:autoTitleDeleted val="0"/>
    <c:plotArea>
      <c:layout/>
      <c:barChart>
        <c:barDir val="col"/>
        <c:grouping val="clustered"/>
        <c:varyColors val="0"/>
        <c:ser>
          <c:idx val="0"/>
          <c:order val="0"/>
          <c:tx>
            <c:strRef>
              <c:f>Sheet1!$B$1</c:f>
              <c:strCache>
                <c:ptCount val="1"/>
                <c:pt idx="0">
                  <c:v>By geography (%)</c:v>
                </c:pt>
              </c:strCache>
            </c:strRef>
          </c:tx>
          <c:spPr>
            <a:solidFill>
              <a:srgbClr val="B8B8B8"/>
            </a:solidFill>
            <a:effectLst/>
          </c:spPr>
          <c:invertIfNegative val="0"/>
          <c:dPt>
            <c:idx val="0"/>
            <c:invertIfNegative val="0"/>
            <c:bubble3D val="0"/>
            <c:extLst>
              <c:ext xmlns:c16="http://schemas.microsoft.com/office/drawing/2014/chart" uri="{C3380CC4-5D6E-409C-BE32-E72D297353CC}">
                <c16:uniqueId val="{00000001-2E08-4B7A-BCFC-9DA2131E0548}"/>
              </c:ext>
            </c:extLst>
          </c:dPt>
          <c:dPt>
            <c:idx val="1"/>
            <c:invertIfNegative val="0"/>
            <c:bubble3D val="0"/>
            <c:extLst>
              <c:ext xmlns:c16="http://schemas.microsoft.com/office/drawing/2014/chart" uri="{C3380CC4-5D6E-409C-BE32-E72D297353CC}">
                <c16:uniqueId val="{00000003-2E08-4B7A-BCFC-9DA2131E0548}"/>
              </c:ext>
            </c:extLst>
          </c:dPt>
          <c:dPt>
            <c:idx val="2"/>
            <c:invertIfNegative val="0"/>
            <c:bubble3D val="0"/>
            <c:spPr>
              <a:solidFill>
                <a:srgbClr val="E0C22E"/>
              </a:solidFill>
              <a:effectLst/>
            </c:spPr>
            <c:extLst>
              <c:ext xmlns:c16="http://schemas.microsoft.com/office/drawing/2014/chart" uri="{C3380CC4-5D6E-409C-BE32-E72D297353CC}">
                <c16:uniqueId val="{00000005-2E08-4B7A-BCFC-9DA2131E0548}"/>
              </c:ext>
            </c:extLst>
          </c:dPt>
          <c:dLbls>
            <c:numFmt formatCode="0.00&quot;%&quot;"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France</c:v>
                </c:pt>
                <c:pt idx="1">
                  <c:v>Spain</c:v>
                </c:pt>
                <c:pt idx="2">
                  <c:v>Germany</c:v>
                </c:pt>
              </c:strCache>
            </c:strRef>
          </c:cat>
          <c:val>
            <c:numRef>
              <c:f>Sheet1!$B$2:$B$4</c:f>
              <c:numCache>
                <c:formatCode>General</c:formatCode>
                <c:ptCount val="3"/>
                <c:pt idx="0">
                  <c:v>16.149999999999999</c:v>
                </c:pt>
                <c:pt idx="1">
                  <c:v>16.670000000000002</c:v>
                </c:pt>
                <c:pt idx="2">
                  <c:v>32.44</c:v>
                </c:pt>
              </c:numCache>
            </c:numRef>
          </c:val>
          <c:extLst>
            <c:ext xmlns:c16="http://schemas.microsoft.com/office/drawing/2014/chart" uri="{C3380CC4-5D6E-409C-BE32-E72D297353CC}">
              <c16:uniqueId val="{00000006-2E08-4B7A-BCFC-9DA2131E054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By gender (%)</a:t>
            </a:r>
          </a:p>
        </c:rich>
      </c:tx>
      <c:overlay val="0"/>
    </c:title>
    <c:autoTitleDeleted val="0"/>
    <c:plotArea>
      <c:layout/>
      <c:barChart>
        <c:barDir val="col"/>
        <c:grouping val="clustered"/>
        <c:varyColors val="0"/>
        <c:ser>
          <c:idx val="0"/>
          <c:order val="0"/>
          <c:tx>
            <c:strRef>
              <c:f>Sheet1!$B$1</c:f>
              <c:strCache>
                <c:ptCount val="1"/>
                <c:pt idx="0">
                  <c:v>By gender (%)</c:v>
                </c:pt>
              </c:strCache>
            </c:strRef>
          </c:tx>
          <c:spPr>
            <a:solidFill>
              <a:srgbClr val="B8B8B8"/>
            </a:solidFill>
            <a:effectLst/>
          </c:spPr>
          <c:invertIfNegative val="0"/>
          <c:dPt>
            <c:idx val="0"/>
            <c:invertIfNegative val="0"/>
            <c:bubble3D val="0"/>
            <c:extLst>
              <c:ext xmlns:c16="http://schemas.microsoft.com/office/drawing/2014/chart" uri="{C3380CC4-5D6E-409C-BE32-E72D297353CC}">
                <c16:uniqueId val="{00000001-D8B3-4D22-98C7-9C25EB25491B}"/>
              </c:ext>
            </c:extLst>
          </c:dPt>
          <c:dPt>
            <c:idx val="1"/>
            <c:invertIfNegative val="0"/>
            <c:bubble3D val="0"/>
            <c:spPr>
              <a:solidFill>
                <a:srgbClr val="E0C22E"/>
              </a:solidFill>
              <a:effectLst/>
            </c:spPr>
            <c:extLst>
              <c:ext xmlns:c16="http://schemas.microsoft.com/office/drawing/2014/chart" uri="{C3380CC4-5D6E-409C-BE32-E72D297353CC}">
                <c16:uniqueId val="{00000003-D8B3-4D22-98C7-9C25EB25491B}"/>
              </c:ext>
            </c:extLst>
          </c:dPt>
          <c:dLbls>
            <c:numFmt formatCode="0.00&quot;%&quot;"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Male</c:v>
                </c:pt>
                <c:pt idx="1">
                  <c:v>Female</c:v>
                </c:pt>
              </c:strCache>
            </c:strRef>
          </c:cat>
          <c:val>
            <c:numRef>
              <c:f>Sheet1!$B$2:$B$3</c:f>
              <c:numCache>
                <c:formatCode>General</c:formatCode>
                <c:ptCount val="2"/>
                <c:pt idx="0">
                  <c:v>16.46</c:v>
                </c:pt>
                <c:pt idx="1">
                  <c:v>25.07</c:v>
                </c:pt>
              </c:numCache>
            </c:numRef>
          </c:val>
          <c:extLst>
            <c:ext xmlns:c16="http://schemas.microsoft.com/office/drawing/2014/chart" uri="{C3380CC4-5D6E-409C-BE32-E72D297353CC}">
              <c16:uniqueId val="{00000004-D8B3-4D22-98C7-9C25EB25491B}"/>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3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Churn rate by number of products (%)</a:t>
            </a:r>
          </a:p>
        </c:rich>
      </c:tx>
      <c:overlay val="0"/>
    </c:title>
    <c:autoTitleDeleted val="0"/>
    <c:plotArea>
      <c:layout/>
      <c:barChart>
        <c:barDir val="col"/>
        <c:grouping val="clustered"/>
        <c:varyColors val="0"/>
        <c:ser>
          <c:idx val="0"/>
          <c:order val="0"/>
          <c:tx>
            <c:strRef>
              <c:f>Sheet1!$B$1</c:f>
              <c:strCache>
                <c:ptCount val="1"/>
                <c:pt idx="0">
                  <c:v>Churn rate by number of products (%)</c:v>
                </c:pt>
              </c:strCache>
            </c:strRef>
          </c:tx>
          <c:spPr>
            <a:solidFill>
              <a:srgbClr val="B8B8B8"/>
            </a:solidFill>
            <a:effectLst/>
          </c:spPr>
          <c:invertIfNegative val="0"/>
          <c:dPt>
            <c:idx val="0"/>
            <c:invertIfNegative val="0"/>
            <c:bubble3D val="0"/>
            <c:extLst>
              <c:ext xmlns:c16="http://schemas.microsoft.com/office/drawing/2014/chart" uri="{C3380CC4-5D6E-409C-BE32-E72D297353CC}">
                <c16:uniqueId val="{00000001-ABCB-4EF1-865C-2F5889E5D5BE}"/>
              </c:ext>
            </c:extLst>
          </c:dPt>
          <c:dPt>
            <c:idx val="1"/>
            <c:invertIfNegative val="0"/>
            <c:bubble3D val="0"/>
            <c:spPr>
              <a:solidFill>
                <a:srgbClr val="E0C22E"/>
              </a:solidFill>
              <a:effectLst/>
            </c:spPr>
            <c:extLst>
              <c:ext xmlns:c16="http://schemas.microsoft.com/office/drawing/2014/chart" uri="{C3380CC4-5D6E-409C-BE32-E72D297353CC}">
                <c16:uniqueId val="{00000003-ABCB-4EF1-865C-2F5889E5D5BE}"/>
              </c:ext>
            </c:extLst>
          </c:dPt>
          <c:dPt>
            <c:idx val="2"/>
            <c:invertIfNegative val="0"/>
            <c:bubble3D val="0"/>
            <c:extLst>
              <c:ext xmlns:c16="http://schemas.microsoft.com/office/drawing/2014/chart" uri="{C3380CC4-5D6E-409C-BE32-E72D297353CC}">
                <c16:uniqueId val="{00000005-ABCB-4EF1-865C-2F5889E5D5BE}"/>
              </c:ext>
            </c:extLst>
          </c:dPt>
          <c:dPt>
            <c:idx val="3"/>
            <c:invertIfNegative val="0"/>
            <c:bubble3D val="0"/>
            <c:extLst>
              <c:ext xmlns:c16="http://schemas.microsoft.com/office/drawing/2014/chart" uri="{C3380CC4-5D6E-409C-BE32-E72D297353CC}">
                <c16:uniqueId val="{00000007-ABCB-4EF1-865C-2F5889E5D5BE}"/>
              </c:ext>
            </c:extLst>
          </c:dPt>
          <c:dLbls>
            <c:numFmt formatCode="0.0&quot;%&quot;"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product</c:v>
                </c:pt>
                <c:pt idx="1">
                  <c:v>2 products</c:v>
                </c:pt>
                <c:pt idx="2">
                  <c:v>3 products</c:v>
                </c:pt>
                <c:pt idx="3">
                  <c:v>4 products</c:v>
                </c:pt>
              </c:strCache>
            </c:strRef>
          </c:cat>
          <c:val>
            <c:numRef>
              <c:f>Sheet1!$B$2:$B$5</c:f>
              <c:numCache>
                <c:formatCode>General</c:formatCode>
                <c:ptCount val="4"/>
                <c:pt idx="0">
                  <c:v>27.7</c:v>
                </c:pt>
                <c:pt idx="1">
                  <c:v>7.6</c:v>
                </c:pt>
                <c:pt idx="2">
                  <c:v>82.7</c:v>
                </c:pt>
                <c:pt idx="3">
                  <c:v>100</c:v>
                </c:pt>
              </c:numCache>
            </c:numRef>
          </c:val>
          <c:extLst>
            <c:ext xmlns:c16="http://schemas.microsoft.com/office/drawing/2014/chart" uri="{C3380CC4-5D6E-409C-BE32-E72D297353CC}">
              <c16:uniqueId val="{00000008-ABCB-4EF1-865C-2F5889E5D5B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11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Churn rate by activity status (%)</a:t>
            </a:r>
          </a:p>
        </c:rich>
      </c:tx>
      <c:overlay val="0"/>
    </c:title>
    <c:autoTitleDeleted val="0"/>
    <c:plotArea>
      <c:layout/>
      <c:barChart>
        <c:barDir val="col"/>
        <c:grouping val="clustered"/>
        <c:varyColors val="0"/>
        <c:ser>
          <c:idx val="0"/>
          <c:order val="0"/>
          <c:tx>
            <c:strRef>
              <c:f>Sheet1!$B$1</c:f>
              <c:strCache>
                <c:ptCount val="1"/>
                <c:pt idx="0">
                  <c:v>Churn rate by activity status (%)</c:v>
                </c:pt>
              </c:strCache>
            </c:strRef>
          </c:tx>
          <c:spPr>
            <a:solidFill>
              <a:srgbClr val="E0C22E"/>
            </a:solidFill>
            <a:effectLst/>
          </c:spPr>
          <c:invertIfNegative val="0"/>
          <c:dPt>
            <c:idx val="0"/>
            <c:invertIfNegative val="0"/>
            <c:bubble3D val="0"/>
            <c:extLst>
              <c:ext xmlns:c16="http://schemas.microsoft.com/office/drawing/2014/chart" uri="{C3380CC4-5D6E-409C-BE32-E72D297353CC}">
                <c16:uniqueId val="{00000001-C5AD-46B6-96D5-4A95C1C373A1}"/>
              </c:ext>
            </c:extLst>
          </c:dPt>
          <c:dPt>
            <c:idx val="1"/>
            <c:invertIfNegative val="0"/>
            <c:bubble3D val="0"/>
            <c:spPr>
              <a:solidFill>
                <a:srgbClr val="B8B8B8"/>
              </a:solidFill>
              <a:effectLst/>
            </c:spPr>
            <c:extLst>
              <c:ext xmlns:c16="http://schemas.microsoft.com/office/drawing/2014/chart" uri="{C3380CC4-5D6E-409C-BE32-E72D297353CC}">
                <c16:uniqueId val="{00000003-C5AD-46B6-96D5-4A95C1C373A1}"/>
              </c:ext>
            </c:extLst>
          </c:dPt>
          <c:dLbls>
            <c:numFmt formatCode="0.0&quot;%&quot;"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Inactive</c:v>
                </c:pt>
                <c:pt idx="1">
                  <c:v>Active</c:v>
                </c:pt>
              </c:strCache>
            </c:strRef>
          </c:cat>
          <c:val>
            <c:numRef>
              <c:f>Sheet1!$B$2:$B$3</c:f>
              <c:numCache>
                <c:formatCode>General</c:formatCode>
                <c:ptCount val="2"/>
                <c:pt idx="0">
                  <c:v>26.9</c:v>
                </c:pt>
                <c:pt idx="1">
                  <c:v>14.3</c:v>
                </c:pt>
              </c:numCache>
            </c:numRef>
          </c:val>
          <c:extLst>
            <c:ext xmlns:c16="http://schemas.microsoft.com/office/drawing/2014/chart" uri="{C3380CC4-5D6E-409C-BE32-E72D297353CC}">
              <c16:uniqueId val="{00000004-C5AD-46B6-96D5-4A95C1C373A1}"/>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34"/>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Churn rate by credit card ownership (%)</a:t>
            </a:r>
          </a:p>
        </c:rich>
      </c:tx>
      <c:overlay val="0"/>
    </c:title>
    <c:autoTitleDeleted val="0"/>
    <c:plotArea>
      <c:layout/>
      <c:barChart>
        <c:barDir val="col"/>
        <c:grouping val="clustered"/>
        <c:varyColors val="0"/>
        <c:ser>
          <c:idx val="0"/>
          <c:order val="0"/>
          <c:tx>
            <c:strRef>
              <c:f>Sheet1!$B$1</c:f>
              <c:strCache>
                <c:ptCount val="1"/>
                <c:pt idx="0">
                  <c:v>Churn rate by credit card ownership (%)</c:v>
                </c:pt>
              </c:strCache>
            </c:strRef>
          </c:tx>
          <c:spPr>
            <a:solidFill>
              <a:srgbClr val="B8B8B8"/>
            </a:solidFill>
            <a:effectLst/>
          </c:spPr>
          <c:invertIfNegative val="0"/>
          <c:dPt>
            <c:idx val="0"/>
            <c:invertIfNegative val="0"/>
            <c:bubble3D val="0"/>
            <c:extLst>
              <c:ext xmlns:c16="http://schemas.microsoft.com/office/drawing/2014/chart" uri="{C3380CC4-5D6E-409C-BE32-E72D297353CC}">
                <c16:uniqueId val="{00000001-1BF3-4F4D-B1FE-0F27BD427A5E}"/>
              </c:ext>
            </c:extLst>
          </c:dPt>
          <c:dPt>
            <c:idx val="1"/>
            <c:invertIfNegative val="0"/>
            <c:bubble3D val="0"/>
            <c:extLst>
              <c:ext xmlns:c16="http://schemas.microsoft.com/office/drawing/2014/chart" uri="{C3380CC4-5D6E-409C-BE32-E72D297353CC}">
                <c16:uniqueId val="{00000003-1BF3-4F4D-B1FE-0F27BD427A5E}"/>
              </c:ext>
            </c:extLst>
          </c:dPt>
          <c:dLbls>
            <c:numFmt formatCode="0.00&quot;%&quot;"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credit card</c:v>
                </c:pt>
                <c:pt idx="1">
                  <c:v>Has credit card</c:v>
                </c:pt>
              </c:strCache>
            </c:strRef>
          </c:cat>
          <c:val>
            <c:numRef>
              <c:f>Sheet1!$B$2:$B$3</c:f>
              <c:numCache>
                <c:formatCode>General</c:formatCode>
                <c:ptCount val="2"/>
                <c:pt idx="0">
                  <c:v>20.81</c:v>
                </c:pt>
                <c:pt idx="1">
                  <c:v>20.18</c:v>
                </c:pt>
              </c:numCache>
            </c:numRef>
          </c:val>
          <c:extLst>
            <c:ext xmlns:c16="http://schemas.microsoft.com/office/drawing/2014/chart" uri="{C3380CC4-5D6E-409C-BE32-E72D297353CC}">
              <c16:uniqueId val="{00000004-1BF3-4F4D-B1FE-0F27BD427A5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26"/>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Churn rate (%)</a:t>
            </a:r>
          </a:p>
        </c:rich>
      </c:tx>
      <c:overlay val="0"/>
    </c:title>
    <c:autoTitleDeleted val="0"/>
    <c:plotArea>
      <c:layout/>
      <c:barChart>
        <c:barDir val="col"/>
        <c:grouping val="clustered"/>
        <c:varyColors val="0"/>
        <c:ser>
          <c:idx val="0"/>
          <c:order val="0"/>
          <c:tx>
            <c:strRef>
              <c:f>Sheet1!$B$1</c:f>
              <c:strCache>
                <c:ptCount val="1"/>
                <c:pt idx="0">
                  <c:v>Churn</c:v>
                </c:pt>
              </c:strCache>
            </c:strRef>
          </c:tx>
          <c:spPr>
            <a:solidFill>
              <a:srgbClr val="E0C22E"/>
            </a:solidFill>
            <a:effectLst/>
          </c:spPr>
          <c:invertIfNegative val="0"/>
          <c:dPt>
            <c:idx val="0"/>
            <c:invertIfNegative val="0"/>
            <c:bubble3D val="0"/>
            <c:extLst>
              <c:ext xmlns:c16="http://schemas.microsoft.com/office/drawing/2014/chart" uri="{C3380CC4-5D6E-409C-BE32-E72D297353CC}">
                <c16:uniqueId val="{00000001-5CA7-4A74-A297-603BE188193E}"/>
              </c:ext>
            </c:extLst>
          </c:dPt>
          <c:dPt>
            <c:idx val="1"/>
            <c:invertIfNegative val="0"/>
            <c:bubble3D val="0"/>
            <c:spPr>
              <a:solidFill>
                <a:srgbClr val="B8B8B8"/>
              </a:solidFill>
              <a:effectLst/>
            </c:spPr>
            <c:extLst>
              <c:ext xmlns:c16="http://schemas.microsoft.com/office/drawing/2014/chart" uri="{C3380CC4-5D6E-409C-BE32-E72D297353CC}">
                <c16:uniqueId val="{00000003-5CA7-4A74-A297-603BE188193E}"/>
              </c:ext>
            </c:extLst>
          </c:dPt>
          <c:dPt>
            <c:idx val="2"/>
            <c:invertIfNegative val="0"/>
            <c:bubble3D val="0"/>
            <c:spPr>
              <a:solidFill>
                <a:srgbClr val="B8B8B8"/>
              </a:solidFill>
              <a:effectLst/>
            </c:spPr>
            <c:extLst>
              <c:ext xmlns:c16="http://schemas.microsoft.com/office/drawing/2014/chart" uri="{C3380CC4-5D6E-409C-BE32-E72D297353CC}">
                <c16:uniqueId val="{00000005-5CA7-4A74-A297-603BE188193E}"/>
              </c:ext>
            </c:extLst>
          </c:dPt>
          <c:dLbls>
            <c:numFmt formatCode="0.00&quot;%&quot;"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Germany</c:v>
                </c:pt>
                <c:pt idx="1">
                  <c:v>Spain</c:v>
                </c:pt>
                <c:pt idx="2">
                  <c:v>France</c:v>
                </c:pt>
              </c:strCache>
            </c:strRef>
          </c:cat>
          <c:val>
            <c:numRef>
              <c:f>Sheet1!$B$2:$B$4</c:f>
              <c:numCache>
                <c:formatCode>General</c:formatCode>
                <c:ptCount val="3"/>
                <c:pt idx="0">
                  <c:v>32.44</c:v>
                </c:pt>
                <c:pt idx="1">
                  <c:v>16.670000000000002</c:v>
                </c:pt>
                <c:pt idx="2">
                  <c:v>16.149999999999999</c:v>
                </c:pt>
              </c:numCache>
            </c:numRef>
          </c:val>
          <c:extLst>
            <c:ext xmlns:c16="http://schemas.microsoft.com/office/drawing/2014/chart" uri="{C3380CC4-5D6E-409C-BE32-E72D297353CC}">
              <c16:uniqueId val="{00000006-5CA7-4A74-A297-603BE188193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Average balance (K)</a:t>
            </a:r>
          </a:p>
        </c:rich>
      </c:tx>
      <c:overlay val="0"/>
    </c:title>
    <c:autoTitleDeleted val="0"/>
    <c:plotArea>
      <c:layout/>
      <c:barChart>
        <c:barDir val="col"/>
        <c:grouping val="clustered"/>
        <c:varyColors val="0"/>
        <c:ser>
          <c:idx val="0"/>
          <c:order val="0"/>
          <c:tx>
            <c:strRef>
              <c:f>Sheet1!$B$1</c:f>
              <c:strCache>
                <c:ptCount val="1"/>
                <c:pt idx="0">
                  <c:v>Balance</c:v>
                </c:pt>
              </c:strCache>
            </c:strRef>
          </c:tx>
          <c:spPr>
            <a:solidFill>
              <a:srgbClr val="E0C22E"/>
            </a:solidFill>
            <a:effectLst/>
          </c:spPr>
          <c:invertIfNegative val="0"/>
          <c:dPt>
            <c:idx val="0"/>
            <c:invertIfNegative val="0"/>
            <c:bubble3D val="0"/>
            <c:extLst>
              <c:ext xmlns:c16="http://schemas.microsoft.com/office/drawing/2014/chart" uri="{C3380CC4-5D6E-409C-BE32-E72D297353CC}">
                <c16:uniqueId val="{00000001-7D6F-4D3C-B729-836EB38AE03D}"/>
              </c:ext>
            </c:extLst>
          </c:dPt>
          <c:dPt>
            <c:idx val="1"/>
            <c:invertIfNegative val="0"/>
            <c:bubble3D val="0"/>
            <c:spPr>
              <a:solidFill>
                <a:srgbClr val="B8B8B8"/>
              </a:solidFill>
              <a:effectLst/>
            </c:spPr>
            <c:extLst>
              <c:ext xmlns:c16="http://schemas.microsoft.com/office/drawing/2014/chart" uri="{C3380CC4-5D6E-409C-BE32-E72D297353CC}">
                <c16:uniqueId val="{00000003-7D6F-4D3C-B729-836EB38AE03D}"/>
              </c:ext>
            </c:extLst>
          </c:dPt>
          <c:dPt>
            <c:idx val="2"/>
            <c:invertIfNegative val="0"/>
            <c:bubble3D val="0"/>
            <c:spPr>
              <a:solidFill>
                <a:srgbClr val="B8B8B8"/>
              </a:solidFill>
              <a:effectLst/>
            </c:spPr>
            <c:extLst>
              <c:ext xmlns:c16="http://schemas.microsoft.com/office/drawing/2014/chart" uri="{C3380CC4-5D6E-409C-BE32-E72D297353CC}">
                <c16:uniqueId val="{00000005-7D6F-4D3C-B729-836EB38AE03D}"/>
              </c:ext>
            </c:extLst>
          </c:dPt>
          <c:dLbls>
            <c:numFmt formatCode="0&quot;K&quot;"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Germany</c:v>
                </c:pt>
                <c:pt idx="1">
                  <c:v>Spain</c:v>
                </c:pt>
                <c:pt idx="2">
                  <c:v>France</c:v>
                </c:pt>
              </c:strCache>
            </c:strRef>
          </c:cat>
          <c:val>
            <c:numRef>
              <c:f>Sheet1!$B$2:$B$4</c:f>
              <c:numCache>
                <c:formatCode>General</c:formatCode>
                <c:ptCount val="3"/>
                <c:pt idx="0">
                  <c:v>120</c:v>
                </c:pt>
                <c:pt idx="1">
                  <c:v>62</c:v>
                </c:pt>
                <c:pt idx="2">
                  <c:v>62</c:v>
                </c:pt>
              </c:numCache>
            </c:numRef>
          </c:val>
          <c:extLst>
            <c:ext xmlns:c16="http://schemas.microsoft.com/office/drawing/2014/chart" uri="{C3380CC4-5D6E-409C-BE32-E72D297353CC}">
              <c16:uniqueId val="{00000006-7D6F-4D3C-B729-836EB38AE03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15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62626"/>
                </a:solidFill>
                <a:latin typeface="Calibri"/>
              </a:defRPr>
            </a:pPr>
            <a:r>
              <a:rPr sz="1300" b="1" i="0" u="none" strike="noStrike">
                <a:solidFill>
                  <a:srgbClr val="262626"/>
                </a:solidFill>
                <a:latin typeface="Calibri"/>
              </a:rPr>
              <a:t>Customers joined by month, 2016–2019 combined</a:t>
            </a:r>
          </a:p>
        </c:rich>
      </c:tx>
      <c:overlay val="0"/>
    </c:title>
    <c:autoTitleDeleted val="0"/>
    <c:plotArea>
      <c:layout/>
      <c:barChart>
        <c:barDir val="col"/>
        <c:grouping val="clustered"/>
        <c:varyColors val="0"/>
        <c:ser>
          <c:idx val="0"/>
          <c:order val="0"/>
          <c:tx>
            <c:strRef>
              <c:f>Sheet1!$B$1</c:f>
              <c:strCache>
                <c:ptCount val="1"/>
                <c:pt idx="0">
                  <c:v>Customers joined</c:v>
                </c:pt>
              </c:strCache>
            </c:strRef>
          </c:tx>
          <c:spPr>
            <a:solidFill>
              <a:srgbClr val="B8B8B8"/>
            </a:solidFill>
            <a:effectLst/>
          </c:spPr>
          <c:invertIfNegative val="0"/>
          <c:dPt>
            <c:idx val="0"/>
            <c:invertIfNegative val="0"/>
            <c:bubble3D val="0"/>
            <c:extLst>
              <c:ext xmlns:c16="http://schemas.microsoft.com/office/drawing/2014/chart" uri="{C3380CC4-5D6E-409C-BE32-E72D297353CC}">
                <c16:uniqueId val="{00000001-D02B-47F9-A96B-5E979838F806}"/>
              </c:ext>
            </c:extLst>
          </c:dPt>
          <c:dPt>
            <c:idx val="1"/>
            <c:invertIfNegative val="0"/>
            <c:bubble3D val="0"/>
            <c:extLst>
              <c:ext xmlns:c16="http://schemas.microsoft.com/office/drawing/2014/chart" uri="{C3380CC4-5D6E-409C-BE32-E72D297353CC}">
                <c16:uniqueId val="{00000003-D02B-47F9-A96B-5E979838F806}"/>
              </c:ext>
            </c:extLst>
          </c:dPt>
          <c:dPt>
            <c:idx val="2"/>
            <c:invertIfNegative val="0"/>
            <c:bubble3D val="0"/>
            <c:extLst>
              <c:ext xmlns:c16="http://schemas.microsoft.com/office/drawing/2014/chart" uri="{C3380CC4-5D6E-409C-BE32-E72D297353CC}">
                <c16:uniqueId val="{00000005-D02B-47F9-A96B-5E979838F806}"/>
              </c:ext>
            </c:extLst>
          </c:dPt>
          <c:dPt>
            <c:idx val="3"/>
            <c:invertIfNegative val="0"/>
            <c:bubble3D val="0"/>
            <c:extLst>
              <c:ext xmlns:c16="http://schemas.microsoft.com/office/drawing/2014/chart" uri="{C3380CC4-5D6E-409C-BE32-E72D297353CC}">
                <c16:uniqueId val="{00000007-D02B-47F9-A96B-5E979838F806}"/>
              </c:ext>
            </c:extLst>
          </c:dPt>
          <c:dPt>
            <c:idx val="4"/>
            <c:invertIfNegative val="0"/>
            <c:bubble3D val="0"/>
            <c:extLst>
              <c:ext xmlns:c16="http://schemas.microsoft.com/office/drawing/2014/chart" uri="{C3380CC4-5D6E-409C-BE32-E72D297353CC}">
                <c16:uniqueId val="{00000009-D02B-47F9-A96B-5E979838F806}"/>
              </c:ext>
            </c:extLst>
          </c:dPt>
          <c:dPt>
            <c:idx val="5"/>
            <c:invertIfNegative val="0"/>
            <c:bubble3D val="0"/>
            <c:extLst>
              <c:ext xmlns:c16="http://schemas.microsoft.com/office/drawing/2014/chart" uri="{C3380CC4-5D6E-409C-BE32-E72D297353CC}">
                <c16:uniqueId val="{0000000B-D02B-47F9-A96B-5E979838F806}"/>
              </c:ext>
            </c:extLst>
          </c:dPt>
          <c:dPt>
            <c:idx val="6"/>
            <c:invertIfNegative val="0"/>
            <c:bubble3D val="0"/>
            <c:extLst>
              <c:ext xmlns:c16="http://schemas.microsoft.com/office/drawing/2014/chart" uri="{C3380CC4-5D6E-409C-BE32-E72D297353CC}">
                <c16:uniqueId val="{0000000D-D02B-47F9-A96B-5E979838F806}"/>
              </c:ext>
            </c:extLst>
          </c:dPt>
          <c:dPt>
            <c:idx val="7"/>
            <c:invertIfNegative val="0"/>
            <c:bubble3D val="0"/>
            <c:extLst>
              <c:ext xmlns:c16="http://schemas.microsoft.com/office/drawing/2014/chart" uri="{C3380CC4-5D6E-409C-BE32-E72D297353CC}">
                <c16:uniqueId val="{0000000F-D02B-47F9-A96B-5E979838F806}"/>
              </c:ext>
            </c:extLst>
          </c:dPt>
          <c:dPt>
            <c:idx val="8"/>
            <c:invertIfNegative val="0"/>
            <c:bubble3D val="0"/>
            <c:spPr>
              <a:solidFill>
                <a:srgbClr val="E0C22E"/>
              </a:solidFill>
              <a:effectLst/>
            </c:spPr>
            <c:extLst>
              <c:ext xmlns:c16="http://schemas.microsoft.com/office/drawing/2014/chart" uri="{C3380CC4-5D6E-409C-BE32-E72D297353CC}">
                <c16:uniqueId val="{00000011-D02B-47F9-A96B-5E979838F806}"/>
              </c:ext>
            </c:extLst>
          </c:dPt>
          <c:dPt>
            <c:idx val="9"/>
            <c:invertIfNegative val="0"/>
            <c:bubble3D val="0"/>
            <c:extLst>
              <c:ext xmlns:c16="http://schemas.microsoft.com/office/drawing/2014/chart" uri="{C3380CC4-5D6E-409C-BE32-E72D297353CC}">
                <c16:uniqueId val="{00000013-D02B-47F9-A96B-5E979838F806}"/>
              </c:ext>
            </c:extLst>
          </c:dPt>
          <c:dPt>
            <c:idx val="10"/>
            <c:invertIfNegative val="0"/>
            <c:bubble3D val="0"/>
            <c:spPr>
              <a:solidFill>
                <a:srgbClr val="E0C22E"/>
              </a:solidFill>
              <a:effectLst/>
            </c:spPr>
            <c:extLst>
              <c:ext xmlns:c16="http://schemas.microsoft.com/office/drawing/2014/chart" uri="{C3380CC4-5D6E-409C-BE32-E72D297353CC}">
                <c16:uniqueId val="{00000015-D02B-47F9-A96B-5E979838F806}"/>
              </c:ext>
            </c:extLst>
          </c:dPt>
          <c:dPt>
            <c:idx val="11"/>
            <c:invertIfNegative val="0"/>
            <c:bubble3D val="0"/>
            <c:spPr>
              <a:solidFill>
                <a:srgbClr val="E0C22E"/>
              </a:solidFill>
              <a:effectLst/>
            </c:spPr>
            <c:extLst>
              <c:ext xmlns:c16="http://schemas.microsoft.com/office/drawing/2014/chart" uri="{C3380CC4-5D6E-409C-BE32-E72D297353CC}">
                <c16:uniqueId val="{00000017-D02B-47F9-A96B-5E979838F806}"/>
              </c:ext>
            </c:extLst>
          </c:dPt>
          <c:dLbls>
            <c:numFmt formatCode="#,##0" sourceLinked="0"/>
            <c:spPr>
              <a:noFill/>
              <a:ln>
                <a:noFill/>
              </a:ln>
              <a:effectLst/>
            </c:spPr>
            <c:txPr>
              <a:bodyPr/>
              <a:lstStyle/>
              <a:p>
                <a:pPr>
                  <a:defRPr sz="1100" b="0" i="0" u="none" strike="noStrike">
                    <a:solidFill>
                      <a:srgbClr val="26262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482</c:v>
                </c:pt>
                <c:pt idx="1">
                  <c:v>324</c:v>
                </c:pt>
                <c:pt idx="2">
                  <c:v>654</c:v>
                </c:pt>
                <c:pt idx="3">
                  <c:v>653</c:v>
                </c:pt>
                <c:pt idx="4">
                  <c:v>694</c:v>
                </c:pt>
                <c:pt idx="5">
                  <c:v>765</c:v>
                </c:pt>
                <c:pt idx="6">
                  <c:v>721</c:v>
                </c:pt>
                <c:pt idx="7">
                  <c:v>674</c:v>
                </c:pt>
                <c:pt idx="8">
                  <c:v>1356</c:v>
                </c:pt>
                <c:pt idx="9">
                  <c:v>831</c:v>
                </c:pt>
                <c:pt idx="10">
                  <c:v>1437</c:v>
                </c:pt>
                <c:pt idx="11">
                  <c:v>1409</c:v>
                </c:pt>
              </c:numCache>
            </c:numRef>
          </c:val>
          <c:extLst>
            <c:ext xmlns:c16="http://schemas.microsoft.com/office/drawing/2014/chart" uri="{C3380CC4-5D6E-409C-BE32-E72D297353CC}">
              <c16:uniqueId val="{00000018-D02B-47F9-A96B-5E979838F80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2626"/>
                </a:solidFill>
                <a:latin typeface="Calibri"/>
              </a:defRPr>
            </a:pPr>
            <a:endParaRPr lang="en-US"/>
          </a:p>
        </c:txPr>
        <c:crossAx val="2094734552"/>
        <c:crosses val="autoZero"/>
        <c:auto val="1"/>
        <c:lblAlgn val="ctr"/>
        <c:lblOffset val="100"/>
        <c:noMultiLvlLbl val="1"/>
      </c:catAx>
      <c:valAx>
        <c:axId val="2094734552"/>
        <c:scaling>
          <c:orientation val="minMax"/>
          <c:max val="17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159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one in five customers has left. This deck shows who they are, where the value is at risk, and what the bank should do about it. Every number comes from the SQL and Power BI analysis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context in about a minute: the bank wants less churn, better service and happier customers. The method: clean, query, visualise, recommend.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 tables (CustomerInfo, Bank_Churn) and five lookups (Gender, Geography, ExitCustomers, CreditCard, ActiveCustomer). No missing values. 735 customers have Exited = 1 but IsActiveMember = 1, which is impossible. Exited is trusted, so a corrected activity column was created. Tenure only ranges 3-7 and conflicts with join dates, so it is flagged for audit.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from the Executive Overview page. Churn by joining year: 19.27, 22.35, 20.21, 19.86 percent. The dataset has no exit date, so this is churn by cohort, not churn during each calendar year.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50+ churns at about 45%, versus 7.6% for 18-30. Germany is roughly double France and Spain. Female customers churn about 9 points more than male customers. These are associations, not proven causes.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with two products churn at 7.6 percent; one product 27.7; three 82.7; four 100. Cross-selling should follow customer needs. Customers with 3-4 products leaving almost always needs investigation (bundling or service issues). Association is not causation, so pilot first.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Inactive members churn at about 26.9 percent versus 14.3 for active members. Card holders churn at 20.18 percent versus 20.81 for non-holders, a negligible difference. The data has no reward participation, so reward impact cannot be measured directly.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Germany has average balance around 120K, churn 32.44 percent and activity around 50 percent. Spain has activity about 53 percent and churn 16.67; France about 52 percent and 16.15. Average salaries are similar, so salary does not explain the gap. No external economic indicators are in the data. Balance values for Spain and France are read from the dashboard chart (about 62K each).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score segment below 580 has the highest exit rate at 22.02 percent while the 580-669 segment has the most churned customers by count. Salary and balance show zero correlation. New customers average 76.6K balance and 1.56 products versus 76.3K and 1.51 for long-term customers; activity is 52.14 vs 51.03 percent.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months spike every year. September, November and December account for 4,202 of 10,000 joiners; January and February are the trough. Campaign data is not in the dataset, so campaigns are only a possible explanation.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pages: Executive Overview for KPIs and churn by geography, gender, age and activity; Customer &amp; Churn Analysis for tenure, credit score, products and card status; Product &amp; Customer Behaviour for activity, geography, card and product views.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maps to a finding: Germany, age 50+, product depth, inactivity, seasonality, and measurement through pilots.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three takeaways and be open about data limits: no exit reasons, no campaign data, no product names, no transactions.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B2B2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sets/ic_FaUniversity_g.png"/>
          <p:cNvPicPr>
            <a:picLocks noChangeAspect="1"/>
          </p:cNvPicPr>
          <p:nvPr/>
        </p:nvPicPr>
        <p:blipFill>
          <a:blip r:embed="rId3"/>
          <a:stretch>
            <a:fillRect/>
          </a:stretch>
        </p:blipFill>
        <p:spPr>
          <a:xfrm>
            <a:off x="548640" y="480060"/>
            <a:ext cx="315468" cy="315468"/>
          </a:xfrm>
          <a:prstGeom prst="rect">
            <a:avLst/>
          </a:prstGeom>
        </p:spPr>
      </p:pic>
      <p:sp>
        <p:nvSpPr>
          <p:cNvPr id="3" name="Text 0"/>
          <p:cNvSpPr txBox="1"/>
          <p:nvPr/>
        </p:nvSpPr>
        <p:spPr>
          <a:xfrm>
            <a:off x="973836" y="480060"/>
            <a:ext cx="2743200" cy="315468"/>
          </a:xfrm>
          <a:prstGeom prst="rect">
            <a:avLst/>
          </a:prstGeom>
          <a:noFill/>
          <a:ln/>
        </p:spPr>
        <p:txBody>
          <a:bodyPr wrap="square" lIns="0" tIns="0" rIns="0" bIns="0" rtlCol="0" anchor="ctr"/>
          <a:lstStyle/>
          <a:p>
            <a:pPr marL="0" indent="0">
              <a:buNone/>
            </a:pPr>
            <a:r>
              <a:rPr lang="en-US" sz="1050" b="1" kern="0" spc="225" dirty="0">
                <a:solidFill>
                  <a:schemeClr val="accent2"/>
                </a:solidFill>
              </a:rPr>
              <a:t>BANK CRM ANALYTICS</a:t>
            </a:r>
            <a:endParaRPr lang="en-US" sz="1050" dirty="0"/>
          </a:p>
        </p:txBody>
      </p:sp>
      <p:sp>
        <p:nvSpPr>
          <p:cNvPr id="4" name="Text 1"/>
          <p:cNvSpPr>
            <a:spLocks noGrp="1"/>
          </p:cNvSpPr>
          <p:nvPr>
            <p:ph type="title" idx="102" hasCustomPrompt="1"/>
          </p:nvPr>
        </p:nvSpPr>
        <p:spPr>
          <a:xfrm>
            <a:off x="548640" y="1371600"/>
            <a:ext cx="4114800" cy="1371600"/>
          </a:xfrm>
          <a:prstGeom prst="rect">
            <a:avLst/>
          </a:prstGeom>
          <a:noFill/>
          <a:ln/>
        </p:spPr>
        <p:txBody>
          <a:bodyPr wrap="square" rtlCol="0"/>
          <a:lstStyle>
            <a:lvl1pPr marL="0" indent="0" algn="l">
              <a:buNone/>
              <a:defRPr lang="en-US" sz="3150" b="1" dirty="0">
                <a:solidFill>
                  <a:schemeClr val="bg1"/>
                </a:solidFill>
              </a:defRPr>
            </a:lvl1pPr>
          </a:lstStyle>
          <a:p>
            <a:pPr marL="0" indent="0" algn="l">
              <a:buNone/>
            </a:pPr>
            <a:endParaRPr lang="en-US" sz="3150" dirty="0"/>
          </a:p>
        </p:txBody>
      </p:sp>
      <p:sp>
        <p:nvSpPr>
          <p:cNvPr id="5" name="Text 1"/>
          <p:cNvSpPr>
            <a:spLocks noGrp="1"/>
          </p:cNvSpPr>
          <p:nvPr>
            <p:ph type="body" idx="103" hasCustomPrompt="1"/>
          </p:nvPr>
        </p:nvSpPr>
        <p:spPr>
          <a:xfrm>
            <a:off x="548640" y="2846070"/>
            <a:ext cx="4389120" cy="617220"/>
          </a:xfrm>
          <a:prstGeom prst="rect">
            <a:avLst/>
          </a:prstGeom>
          <a:noFill/>
          <a:ln/>
        </p:spPr>
        <p:txBody>
          <a:bodyPr wrap="square" rtlCol="0"/>
          <a:lstStyle>
            <a:lvl1pPr marL="0" indent="0" algn="l">
              <a:buNone/>
              <a:defRPr lang="en-US" sz="1350" dirty="0">
                <a:solidFill>
                  <a:schemeClr val="bg1"/>
                </a:solidFill>
              </a:defRPr>
            </a:lvl1pPr>
          </a:lstStyle>
          <a:p>
            <a:pPr marL="0" indent="0" algn="l">
              <a:buNone/>
            </a:pPr>
            <a:endParaRPr lang="en-US" sz="1350" dirty="0"/>
          </a:p>
        </p:txBody>
      </p:sp>
    </p:spTree>
    <p:extLst>
      <p:ext uri="{BB962C8B-B14F-4D97-AF65-F5344CB8AC3E}">
        <p14:creationId xmlns:p14="http://schemas.microsoft.com/office/powerpoint/2010/main" val="8465102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1371600"/>
            <a:ext cx="4114800" cy="1371600"/>
          </a:xfrm>
          <a:prstGeom prst="rect">
            <a:avLst/>
          </a:prstGeom>
          <a:noFill/>
          <a:ln/>
        </p:spPr>
        <p:txBody>
          <a:bodyPr wrap="square" lIns="0" tIns="0" rIns="0" bIns="0" rtlCol="0" anchor="t"/>
          <a:lstStyle/>
          <a:p>
            <a:r>
              <a:rPr lang="en-US" dirty="0"/>
              <a:t>Turning customer churn into retention</a:t>
            </a:r>
          </a:p>
        </p:txBody>
      </p:sp>
      <p:sp>
        <p:nvSpPr>
          <p:cNvPr id="3" name="Text 1"/>
          <p:cNvSpPr>
            <a:spLocks noGrp="1"/>
          </p:cNvSpPr>
          <p:nvPr>
            <p:ph type="body" idx="103" hasCustomPrompt="1"/>
          </p:nvPr>
        </p:nvSpPr>
        <p:spPr>
          <a:xfrm>
            <a:off x="548640" y="4385310"/>
            <a:ext cx="4389120" cy="617220"/>
          </a:xfrm>
          <a:prstGeom prst="rect">
            <a:avLst/>
          </a:prstGeom>
          <a:noFill/>
          <a:ln/>
        </p:spPr>
        <p:txBody>
          <a:bodyPr wrap="square" lIns="0" tIns="0" rIns="0" bIns="0" rtlCol="0" anchor="t"/>
          <a:lstStyle/>
          <a:p>
            <a:r>
              <a:rPr lang="en-US" dirty="0"/>
              <a:t>Newton School - 2026</a:t>
            </a:r>
          </a:p>
        </p:txBody>
      </p:sp>
      <p:sp>
        <p:nvSpPr>
          <p:cNvPr id="7" name="Text 5"/>
          <p:cNvSpPr txBox="1"/>
          <p:nvPr/>
        </p:nvSpPr>
        <p:spPr>
          <a:xfrm>
            <a:off x="548640" y="3851910"/>
            <a:ext cx="3954780" cy="617220"/>
          </a:xfrm>
          <a:prstGeom prst="rect">
            <a:avLst/>
          </a:prstGeom>
          <a:noFill/>
          <a:ln/>
        </p:spPr>
        <p:txBody>
          <a:bodyPr wrap="square" lIns="0" tIns="0" rIns="0" bIns="0" rtlCol="0" anchor="ctr"/>
          <a:lstStyle/>
          <a:p>
            <a:r>
              <a:rPr lang="en-US" sz="2400" b="1" dirty="0">
                <a:solidFill>
                  <a:schemeClr val="bg1"/>
                </a:solidFill>
              </a:rPr>
              <a:t>Presented by DEEKSHA BK</a:t>
            </a:r>
            <a:endParaRPr lang="en-US"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The brief: understand churn and improve retention</a:t>
            </a:r>
            <a:endParaRPr lang="en-US" sz="2600" dirty="0"/>
          </a:p>
        </p:txBody>
      </p:sp>
      <p:sp>
        <p:nvSpPr>
          <p:cNvPr id="3" name="Step card"/>
          <p:cNvSpPr/>
          <p:nvPr/>
        </p:nvSpPr>
        <p:spPr>
          <a:xfrm>
            <a:off x="457200" y="1280160"/>
            <a:ext cx="4937760" cy="640080"/>
          </a:xfrm>
          <a:prstGeom prst="roundRect">
            <a:avLst>
              <a:gd name="adj" fmla="val 11429"/>
            </a:avLst>
          </a:prstGeom>
          <a:solidFill>
            <a:srgbClr val="F3F3F3"/>
          </a:solidFill>
          <a:ln w="12700">
            <a:solidFill>
              <a:srgbClr val="F3F3F3"/>
            </a:solidFill>
            <a:prstDash val="solid"/>
          </a:ln>
        </p:spPr>
      </p:sp>
      <p:sp>
        <p:nvSpPr>
          <p:cNvPr id="4" name="Shape 2"/>
          <p:cNvSpPr/>
          <p:nvPr/>
        </p:nvSpPr>
        <p:spPr>
          <a:xfrm>
            <a:off x="594360" y="1389888"/>
            <a:ext cx="420624" cy="420624"/>
          </a:xfrm>
          <a:prstGeom prst="ellipse">
            <a:avLst/>
          </a:prstGeom>
          <a:solidFill>
            <a:srgbClr val="E0C22E"/>
          </a:solidFill>
          <a:ln w="12700">
            <a:solidFill>
              <a:srgbClr val="E0C22E"/>
            </a:solidFill>
            <a:prstDash val="solid"/>
          </a:ln>
        </p:spPr>
      </p:sp>
      <p:sp>
        <p:nvSpPr>
          <p:cNvPr id="5" name="Text 3"/>
          <p:cNvSpPr txBox="1"/>
          <p:nvPr/>
        </p:nvSpPr>
        <p:spPr>
          <a:xfrm>
            <a:off x="594360" y="1389888"/>
            <a:ext cx="420624" cy="420624"/>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188720" y="1280160"/>
            <a:ext cx="4114800" cy="64008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Clean &amp; model</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7 linked tables, 10,000 customers, prepared in Excel and Power BI</a:t>
            </a:r>
            <a:endParaRPr lang="en-US" sz="1400" dirty="0"/>
          </a:p>
        </p:txBody>
      </p:sp>
      <p:sp>
        <p:nvSpPr>
          <p:cNvPr id="7" name="Step card"/>
          <p:cNvSpPr/>
          <p:nvPr/>
        </p:nvSpPr>
        <p:spPr>
          <a:xfrm>
            <a:off x="457200" y="2057400"/>
            <a:ext cx="4937760" cy="640080"/>
          </a:xfrm>
          <a:prstGeom prst="roundRect">
            <a:avLst>
              <a:gd name="adj" fmla="val 11429"/>
            </a:avLst>
          </a:prstGeom>
          <a:solidFill>
            <a:srgbClr val="F3F3F3"/>
          </a:solidFill>
          <a:ln w="12700">
            <a:solidFill>
              <a:srgbClr val="F3F3F3"/>
            </a:solidFill>
            <a:prstDash val="solid"/>
          </a:ln>
        </p:spPr>
      </p:sp>
      <p:sp>
        <p:nvSpPr>
          <p:cNvPr id="8" name="Shape 6"/>
          <p:cNvSpPr/>
          <p:nvPr/>
        </p:nvSpPr>
        <p:spPr>
          <a:xfrm>
            <a:off x="594360" y="2167128"/>
            <a:ext cx="420624" cy="420624"/>
          </a:xfrm>
          <a:prstGeom prst="ellipse">
            <a:avLst/>
          </a:prstGeom>
          <a:solidFill>
            <a:srgbClr val="E0C22E"/>
          </a:solidFill>
          <a:ln w="12700">
            <a:solidFill>
              <a:srgbClr val="E0C22E"/>
            </a:solidFill>
            <a:prstDash val="solid"/>
          </a:ln>
        </p:spPr>
      </p:sp>
      <p:sp>
        <p:nvSpPr>
          <p:cNvPr id="9" name="Text 7"/>
          <p:cNvSpPr txBox="1"/>
          <p:nvPr/>
        </p:nvSpPr>
        <p:spPr>
          <a:xfrm>
            <a:off x="594360" y="2167128"/>
            <a:ext cx="420624" cy="420624"/>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188720" y="2057400"/>
            <a:ext cx="4114800" cy="64008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Query</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SQL in MySQL for objective and subjective questions</a:t>
            </a:r>
            <a:endParaRPr lang="en-US" sz="1400" dirty="0"/>
          </a:p>
        </p:txBody>
      </p:sp>
      <p:sp>
        <p:nvSpPr>
          <p:cNvPr id="11" name="Step card"/>
          <p:cNvSpPr/>
          <p:nvPr/>
        </p:nvSpPr>
        <p:spPr>
          <a:xfrm>
            <a:off x="457200" y="2834640"/>
            <a:ext cx="4937760" cy="640080"/>
          </a:xfrm>
          <a:prstGeom prst="roundRect">
            <a:avLst>
              <a:gd name="adj" fmla="val 11429"/>
            </a:avLst>
          </a:prstGeom>
          <a:solidFill>
            <a:srgbClr val="F3F3F3"/>
          </a:solidFill>
          <a:ln w="12700">
            <a:solidFill>
              <a:srgbClr val="F3F3F3"/>
            </a:solidFill>
            <a:prstDash val="solid"/>
          </a:ln>
        </p:spPr>
      </p:sp>
      <p:sp>
        <p:nvSpPr>
          <p:cNvPr id="12" name="Shape 10"/>
          <p:cNvSpPr/>
          <p:nvPr/>
        </p:nvSpPr>
        <p:spPr>
          <a:xfrm>
            <a:off x="594360" y="2944368"/>
            <a:ext cx="420624" cy="420624"/>
          </a:xfrm>
          <a:prstGeom prst="ellipse">
            <a:avLst/>
          </a:prstGeom>
          <a:solidFill>
            <a:srgbClr val="E0C22E"/>
          </a:solidFill>
          <a:ln w="12700">
            <a:solidFill>
              <a:srgbClr val="E0C22E"/>
            </a:solidFill>
            <a:prstDash val="solid"/>
          </a:ln>
        </p:spPr>
      </p:sp>
      <p:sp>
        <p:nvSpPr>
          <p:cNvPr id="13" name="Text 11"/>
          <p:cNvSpPr txBox="1"/>
          <p:nvPr/>
        </p:nvSpPr>
        <p:spPr>
          <a:xfrm>
            <a:off x="594360" y="2944368"/>
            <a:ext cx="420624" cy="420624"/>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188720" y="2834640"/>
            <a:ext cx="4114800" cy="64008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Visualise</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Interactive Power BI dashboard with slicers</a:t>
            </a:r>
            <a:endParaRPr lang="en-US" sz="1400" dirty="0"/>
          </a:p>
        </p:txBody>
      </p:sp>
      <p:sp>
        <p:nvSpPr>
          <p:cNvPr id="15" name="Step card"/>
          <p:cNvSpPr/>
          <p:nvPr/>
        </p:nvSpPr>
        <p:spPr>
          <a:xfrm>
            <a:off x="457200" y="3611880"/>
            <a:ext cx="4937760" cy="640080"/>
          </a:xfrm>
          <a:prstGeom prst="roundRect">
            <a:avLst>
              <a:gd name="adj" fmla="val 11429"/>
            </a:avLst>
          </a:prstGeom>
          <a:solidFill>
            <a:srgbClr val="F3F3F3"/>
          </a:solidFill>
          <a:ln w="12700">
            <a:solidFill>
              <a:srgbClr val="F3F3F3"/>
            </a:solidFill>
            <a:prstDash val="solid"/>
          </a:ln>
        </p:spPr>
      </p:sp>
      <p:sp>
        <p:nvSpPr>
          <p:cNvPr id="16" name="Shape 14"/>
          <p:cNvSpPr/>
          <p:nvPr/>
        </p:nvSpPr>
        <p:spPr>
          <a:xfrm>
            <a:off x="594360" y="3721608"/>
            <a:ext cx="420624" cy="420624"/>
          </a:xfrm>
          <a:prstGeom prst="ellipse">
            <a:avLst/>
          </a:prstGeom>
          <a:solidFill>
            <a:srgbClr val="E0C22E"/>
          </a:solidFill>
          <a:ln w="12700">
            <a:solidFill>
              <a:srgbClr val="E0C22E"/>
            </a:solidFill>
            <a:prstDash val="solid"/>
          </a:ln>
        </p:spPr>
      </p:sp>
      <p:sp>
        <p:nvSpPr>
          <p:cNvPr id="17" name="Text 15"/>
          <p:cNvSpPr txBox="1"/>
          <p:nvPr/>
        </p:nvSpPr>
        <p:spPr>
          <a:xfrm>
            <a:off x="594360" y="3721608"/>
            <a:ext cx="420624" cy="420624"/>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188720" y="3611880"/>
            <a:ext cx="4114800" cy="64008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Recommend</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Insights and actions for each finding</a:t>
            </a:r>
            <a:endParaRPr lang="en-US" sz="1400" dirty="0"/>
          </a:p>
        </p:txBody>
      </p:sp>
      <p:sp>
        <p:nvSpPr>
          <p:cNvPr id="19" name="Objectives card"/>
          <p:cNvSpPr/>
          <p:nvPr/>
        </p:nvSpPr>
        <p:spPr>
          <a:xfrm>
            <a:off x="5760720" y="1280160"/>
            <a:ext cx="2926080" cy="2971800"/>
          </a:xfrm>
          <a:prstGeom prst="roundRect">
            <a:avLst>
              <a:gd name="adj" fmla="val 2500"/>
            </a:avLst>
          </a:prstGeom>
          <a:solidFill>
            <a:srgbClr val="2B2B2B"/>
          </a:solidFill>
          <a:ln w="12700">
            <a:solidFill>
              <a:srgbClr val="2B2B2B"/>
            </a:solidFill>
            <a:prstDash val="solid"/>
          </a:ln>
        </p:spPr>
      </p:sp>
      <p:sp>
        <p:nvSpPr>
          <p:cNvPr id="20" name="Text 18"/>
          <p:cNvSpPr txBox="1"/>
          <p:nvPr/>
        </p:nvSpPr>
        <p:spPr>
          <a:xfrm>
            <a:off x="5989320" y="1417320"/>
            <a:ext cx="2468880" cy="365760"/>
          </a:xfrm>
          <a:prstGeom prst="rect">
            <a:avLst/>
          </a:prstGeom>
          <a:noFill/>
          <a:ln/>
        </p:spPr>
        <p:txBody>
          <a:bodyPr wrap="square" lIns="0" tIns="0" rIns="0" bIns="0" rtlCol="0" anchor="ctr"/>
          <a:lstStyle/>
          <a:p>
            <a:pPr marL="0" indent="0">
              <a:buNone/>
            </a:pPr>
            <a:r>
              <a:rPr lang="en-US" sz="1600" b="1" dirty="0">
                <a:solidFill>
                  <a:srgbClr val="E0C22E"/>
                </a:solidFill>
                <a:latin typeface="Cambria" pitchFamily="34" charset="0"/>
                <a:ea typeface="Cambria" pitchFamily="34" charset="-122"/>
                <a:cs typeface="Cambria" pitchFamily="34" charset="-120"/>
              </a:rPr>
              <a:t>What the bank wants</a:t>
            </a:r>
            <a:endParaRPr lang="en-US" sz="1600" dirty="0"/>
          </a:p>
        </p:txBody>
      </p:sp>
      <p:sp>
        <p:nvSpPr>
          <p:cNvPr id="21" name="Text 19"/>
          <p:cNvSpPr txBox="1"/>
          <p:nvPr/>
        </p:nvSpPr>
        <p:spPr>
          <a:xfrm>
            <a:off x="5989320" y="1828800"/>
            <a:ext cx="246888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Reduce customer churn</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Improve service delivery</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Raise customer satisfaction</a:t>
            </a:r>
            <a:endParaRPr lang="en-US" sz="1400" dirty="0"/>
          </a:p>
        </p:txBody>
      </p:sp>
      <p:sp>
        <p:nvSpPr>
          <p:cNvPr id="22" name="Text 20"/>
          <p:cNvSpPr txBox="1"/>
          <p:nvPr/>
        </p:nvSpPr>
        <p:spPr>
          <a:xfrm>
            <a:off x="5989320" y="2926080"/>
            <a:ext cx="2468880" cy="1188720"/>
          </a:xfrm>
          <a:prstGeom prst="rect">
            <a:avLst/>
          </a:prstGeom>
          <a:noFill/>
          <a:ln/>
        </p:spPr>
        <p:txBody>
          <a:bodyPr wrap="square" lIns="0" tIns="0" rIns="0" bIns="0" rtlCol="0" anchor="t"/>
          <a:lstStyle/>
          <a:p>
            <a:pPr marL="0" indent="0">
              <a:buNone/>
            </a:pPr>
            <a:r>
              <a:rPr lang="en-US" sz="1300" dirty="0">
                <a:solidFill>
                  <a:srgbClr val="B8B8B8"/>
                </a:solidFill>
                <a:latin typeface="Calibri" pitchFamily="34" charset="0"/>
                <a:ea typeface="Calibri" pitchFamily="34" charset="-122"/>
                <a:cs typeface="Calibri" pitchFamily="34" charset="-120"/>
              </a:rPr>
              <a:t>Customers segmented by geography, gender, age, products and activity to find who is at risk.</a:t>
            </a:r>
            <a:endParaRPr lang="en-US" sz="13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Data model: two core tables and five lookup tables</a:t>
            </a:r>
            <a:endParaRPr lang="en-US" sz="2600" dirty="0"/>
          </a:p>
        </p:txBody>
      </p:sp>
      <p:pic>
        <p:nvPicPr>
          <p:cNvPr id="3" name="Power BI model view" descr="Power BI model view: CustomerInfo and Bank_Churn linked to five lookup tables"/>
          <p:cNvPicPr>
            <a:picLocks noChangeAspect="1"/>
          </p:cNvPicPr>
          <p:nvPr/>
        </p:nvPicPr>
        <p:blipFill>
          <a:blip r:embed="rId3"/>
          <a:stretch>
            <a:fillRect/>
          </a:stretch>
        </p:blipFill>
        <p:spPr>
          <a:xfrm>
            <a:off x="457200" y="1234440"/>
            <a:ext cx="5120640" cy="2715768"/>
          </a:xfrm>
          <a:prstGeom prst="rect">
            <a:avLst/>
          </a:prstGeom>
        </p:spPr>
      </p:pic>
      <p:sp>
        <p:nvSpPr>
          <p:cNvPr id="4" name="Text 1"/>
          <p:cNvSpPr txBox="1"/>
          <p:nvPr/>
        </p:nvSpPr>
        <p:spPr>
          <a:xfrm>
            <a:off x="457200" y="4005072"/>
            <a:ext cx="5120640" cy="274320"/>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Power BI model view</a:t>
            </a:r>
            <a:endParaRPr lang="en-US" sz="1100" dirty="0"/>
          </a:p>
        </p:txBody>
      </p:sp>
      <p:sp>
        <p:nvSpPr>
          <p:cNvPr id="5" name="Stat card"/>
          <p:cNvSpPr/>
          <p:nvPr/>
        </p:nvSpPr>
        <p:spPr>
          <a:xfrm>
            <a:off x="5852160" y="1234440"/>
            <a:ext cx="2834640" cy="960120"/>
          </a:xfrm>
          <a:prstGeom prst="roundRect">
            <a:avLst>
              <a:gd name="adj" fmla="val 7619"/>
            </a:avLst>
          </a:prstGeom>
          <a:solidFill>
            <a:srgbClr val="F3F3F3"/>
          </a:solidFill>
          <a:ln w="12700">
            <a:solidFill>
              <a:srgbClr val="F3F3F3"/>
            </a:solidFill>
            <a:prstDash val="solid"/>
          </a:ln>
        </p:spPr>
      </p:sp>
      <p:sp>
        <p:nvSpPr>
          <p:cNvPr id="6" name="Text 3"/>
          <p:cNvSpPr txBox="1"/>
          <p:nvPr/>
        </p:nvSpPr>
        <p:spPr>
          <a:xfrm>
            <a:off x="5989320" y="1325880"/>
            <a:ext cx="2560320" cy="480060"/>
          </a:xfrm>
          <a:prstGeom prst="rect">
            <a:avLst/>
          </a:prstGeom>
          <a:noFill/>
          <a:ln/>
        </p:spPr>
        <p:txBody>
          <a:bodyPr wrap="square" lIns="0" tIns="0" rIns="0" bIns="0" rtlCol="0" anchor="b"/>
          <a:lstStyle/>
          <a:p>
            <a:pPr marL="0" indent="0">
              <a:buNone/>
            </a:pPr>
            <a:r>
              <a:rPr lang="en-US" sz="2800" b="1" dirty="0">
                <a:solidFill>
                  <a:srgbClr val="262626"/>
                </a:solidFill>
                <a:latin typeface="Cambria" pitchFamily="34" charset="0"/>
                <a:ea typeface="Cambria" pitchFamily="34" charset="-122"/>
                <a:cs typeface="Cambria" pitchFamily="34" charset="-120"/>
              </a:rPr>
              <a:t>0 missing</a:t>
            </a:r>
            <a:endParaRPr lang="en-US" sz="2800" dirty="0"/>
          </a:p>
        </p:txBody>
      </p:sp>
      <p:sp>
        <p:nvSpPr>
          <p:cNvPr id="7" name="Text 4"/>
          <p:cNvSpPr txBox="1"/>
          <p:nvPr/>
        </p:nvSpPr>
        <p:spPr>
          <a:xfrm>
            <a:off x="5989320" y="1791310"/>
            <a:ext cx="2560320" cy="345643"/>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no missing values in any column</a:t>
            </a:r>
            <a:endParaRPr lang="en-US" sz="1200" dirty="0"/>
          </a:p>
        </p:txBody>
      </p:sp>
      <p:sp>
        <p:nvSpPr>
          <p:cNvPr id="8" name="Stat card"/>
          <p:cNvSpPr/>
          <p:nvPr/>
        </p:nvSpPr>
        <p:spPr>
          <a:xfrm>
            <a:off x="5852160" y="2331720"/>
            <a:ext cx="2834640" cy="960120"/>
          </a:xfrm>
          <a:prstGeom prst="roundRect">
            <a:avLst>
              <a:gd name="adj" fmla="val 7619"/>
            </a:avLst>
          </a:prstGeom>
          <a:solidFill>
            <a:srgbClr val="F3F3F3"/>
          </a:solidFill>
          <a:ln w="12700">
            <a:solidFill>
              <a:srgbClr val="F3F3F3"/>
            </a:solidFill>
            <a:prstDash val="solid"/>
          </a:ln>
        </p:spPr>
      </p:sp>
      <p:sp>
        <p:nvSpPr>
          <p:cNvPr id="9" name="Text 6"/>
          <p:cNvSpPr txBox="1"/>
          <p:nvPr/>
        </p:nvSpPr>
        <p:spPr>
          <a:xfrm>
            <a:off x="5989320" y="2423160"/>
            <a:ext cx="2560320" cy="480060"/>
          </a:xfrm>
          <a:prstGeom prst="rect">
            <a:avLst/>
          </a:prstGeom>
          <a:noFill/>
          <a:ln/>
        </p:spPr>
        <p:txBody>
          <a:bodyPr wrap="square" lIns="0" tIns="0" rIns="0" bIns="0" rtlCol="0" anchor="b"/>
          <a:lstStyle/>
          <a:p>
            <a:pPr marL="0" indent="0">
              <a:buNone/>
            </a:pPr>
            <a:r>
              <a:rPr lang="en-US" sz="2800" b="1" dirty="0">
                <a:solidFill>
                  <a:srgbClr val="262626"/>
                </a:solidFill>
                <a:latin typeface="Cambria" pitchFamily="34" charset="0"/>
                <a:ea typeface="Cambria" pitchFamily="34" charset="-122"/>
                <a:cs typeface="Cambria" pitchFamily="34" charset="-120"/>
              </a:rPr>
              <a:t>735</a:t>
            </a:r>
            <a:endParaRPr lang="en-US" sz="2800" dirty="0"/>
          </a:p>
        </p:txBody>
      </p:sp>
      <p:sp>
        <p:nvSpPr>
          <p:cNvPr id="10" name="Text 7"/>
          <p:cNvSpPr txBox="1"/>
          <p:nvPr/>
        </p:nvSpPr>
        <p:spPr>
          <a:xfrm>
            <a:off x="5989320" y="2888590"/>
            <a:ext cx="2560320" cy="345643"/>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exited customers wrongly flagged as active (36% of exits)</a:t>
            </a:r>
            <a:endParaRPr lang="en-US" sz="1200" dirty="0"/>
          </a:p>
        </p:txBody>
      </p:sp>
      <p:sp>
        <p:nvSpPr>
          <p:cNvPr id="11" name="Stat card"/>
          <p:cNvSpPr/>
          <p:nvPr/>
        </p:nvSpPr>
        <p:spPr>
          <a:xfrm>
            <a:off x="5852160" y="3429000"/>
            <a:ext cx="2834640" cy="960120"/>
          </a:xfrm>
          <a:prstGeom prst="roundRect">
            <a:avLst>
              <a:gd name="adj" fmla="val 7619"/>
            </a:avLst>
          </a:prstGeom>
          <a:solidFill>
            <a:srgbClr val="2B2B2B"/>
          </a:solidFill>
          <a:ln w="12700">
            <a:solidFill>
              <a:srgbClr val="2B2B2B"/>
            </a:solidFill>
            <a:prstDash val="solid"/>
          </a:ln>
        </p:spPr>
      </p:sp>
      <p:sp>
        <p:nvSpPr>
          <p:cNvPr id="12" name="Text 9"/>
          <p:cNvSpPr txBox="1"/>
          <p:nvPr/>
        </p:nvSpPr>
        <p:spPr>
          <a:xfrm>
            <a:off x="5989320" y="3520440"/>
            <a:ext cx="2560320" cy="480060"/>
          </a:xfrm>
          <a:prstGeom prst="rect">
            <a:avLst/>
          </a:prstGeom>
          <a:noFill/>
          <a:ln/>
        </p:spPr>
        <p:txBody>
          <a:bodyPr wrap="square" lIns="0" tIns="0" rIns="0" bIns="0" rtlCol="0" anchor="b"/>
          <a:lstStyle/>
          <a:p>
            <a:pPr marL="0" indent="0">
              <a:buNone/>
            </a:pPr>
            <a:r>
              <a:rPr lang="en-US" sz="2800" b="1" dirty="0">
                <a:solidFill>
                  <a:srgbClr val="E0C22E"/>
                </a:solidFill>
                <a:latin typeface="Cambria" pitchFamily="34" charset="0"/>
                <a:ea typeface="Cambria" pitchFamily="34" charset="-122"/>
                <a:cs typeface="Cambria" pitchFamily="34" charset="-120"/>
              </a:rPr>
              <a:t>5,151 → 4,416</a:t>
            </a:r>
            <a:endParaRPr lang="en-US" sz="2800" dirty="0"/>
          </a:p>
        </p:txBody>
      </p:sp>
      <p:sp>
        <p:nvSpPr>
          <p:cNvPr id="13" name="Text 10"/>
          <p:cNvSpPr txBox="1"/>
          <p:nvPr/>
        </p:nvSpPr>
        <p:spPr>
          <a:xfrm>
            <a:off x="5989320" y="3985870"/>
            <a:ext cx="2560320" cy="345643"/>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active members after correction</a:t>
            </a:r>
            <a:endParaRPr lang="en-US" sz="12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Overall churn is 20.37%: 2,037 of 10,000 customers</a:t>
            </a:r>
            <a:endParaRPr lang="en-US" sz="2600" dirty="0"/>
          </a:p>
        </p:txBody>
      </p:sp>
      <p:sp>
        <p:nvSpPr>
          <p:cNvPr id="3" name="Stat card"/>
          <p:cNvSpPr/>
          <p:nvPr/>
        </p:nvSpPr>
        <p:spPr>
          <a:xfrm>
            <a:off x="457200" y="1234440"/>
            <a:ext cx="1325880" cy="1051560"/>
          </a:xfrm>
          <a:prstGeom prst="roundRect">
            <a:avLst>
              <a:gd name="adj" fmla="val 6957"/>
            </a:avLst>
          </a:prstGeom>
          <a:solidFill>
            <a:srgbClr val="F3F3F3"/>
          </a:solidFill>
          <a:ln w="12700">
            <a:solidFill>
              <a:srgbClr val="F3F3F3"/>
            </a:solidFill>
            <a:prstDash val="solid"/>
          </a:ln>
        </p:spPr>
      </p:sp>
      <p:sp>
        <p:nvSpPr>
          <p:cNvPr id="4" name="Text 2"/>
          <p:cNvSpPr txBox="1"/>
          <p:nvPr/>
        </p:nvSpPr>
        <p:spPr>
          <a:xfrm>
            <a:off x="594360" y="1325880"/>
            <a:ext cx="1051560" cy="525780"/>
          </a:xfrm>
          <a:prstGeom prst="rect">
            <a:avLst/>
          </a:prstGeom>
          <a:noFill/>
          <a:ln/>
        </p:spPr>
        <p:txBody>
          <a:bodyPr wrap="square" lIns="0" tIns="0" rIns="0" bIns="0" rtlCol="0" anchor="b"/>
          <a:lstStyle/>
          <a:p>
            <a:pPr marL="0" indent="0">
              <a:buNone/>
            </a:pPr>
            <a:r>
              <a:rPr lang="en-US" sz="2200" b="1" dirty="0">
                <a:solidFill>
                  <a:srgbClr val="262626"/>
                </a:solidFill>
                <a:latin typeface="Cambria" pitchFamily="34" charset="0"/>
                <a:ea typeface="Cambria" pitchFamily="34" charset="-122"/>
                <a:cs typeface="Cambria" pitchFamily="34" charset="-120"/>
              </a:rPr>
              <a:t>10K</a:t>
            </a:r>
            <a:endParaRPr lang="en-US" sz="2200" dirty="0"/>
          </a:p>
        </p:txBody>
      </p:sp>
      <p:sp>
        <p:nvSpPr>
          <p:cNvPr id="5" name="Text 3"/>
          <p:cNvSpPr txBox="1"/>
          <p:nvPr/>
        </p:nvSpPr>
        <p:spPr>
          <a:xfrm>
            <a:off x="594360" y="1844345"/>
            <a:ext cx="1051560" cy="378562"/>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Total customers</a:t>
            </a:r>
            <a:endParaRPr lang="en-US" sz="1200" dirty="0"/>
          </a:p>
        </p:txBody>
      </p:sp>
      <p:sp>
        <p:nvSpPr>
          <p:cNvPr id="6" name="Stat card"/>
          <p:cNvSpPr/>
          <p:nvPr/>
        </p:nvSpPr>
        <p:spPr>
          <a:xfrm>
            <a:off x="1874520" y="1234440"/>
            <a:ext cx="1325880" cy="1051560"/>
          </a:xfrm>
          <a:prstGeom prst="roundRect">
            <a:avLst>
              <a:gd name="adj" fmla="val 6957"/>
            </a:avLst>
          </a:prstGeom>
          <a:solidFill>
            <a:srgbClr val="F3F3F3"/>
          </a:solidFill>
          <a:ln w="12700">
            <a:solidFill>
              <a:srgbClr val="F3F3F3"/>
            </a:solidFill>
            <a:prstDash val="solid"/>
          </a:ln>
        </p:spPr>
      </p:sp>
      <p:sp>
        <p:nvSpPr>
          <p:cNvPr id="7" name="Text 5"/>
          <p:cNvSpPr txBox="1"/>
          <p:nvPr/>
        </p:nvSpPr>
        <p:spPr>
          <a:xfrm>
            <a:off x="2011680" y="1325880"/>
            <a:ext cx="1051560" cy="525780"/>
          </a:xfrm>
          <a:prstGeom prst="rect">
            <a:avLst/>
          </a:prstGeom>
          <a:noFill/>
          <a:ln/>
        </p:spPr>
        <p:txBody>
          <a:bodyPr wrap="square" lIns="0" tIns="0" rIns="0" bIns="0" rtlCol="0" anchor="b"/>
          <a:lstStyle/>
          <a:p>
            <a:pPr marL="0" indent="0">
              <a:buNone/>
            </a:pPr>
            <a:r>
              <a:rPr lang="en-US" sz="2200" b="1" dirty="0">
                <a:solidFill>
                  <a:srgbClr val="262626"/>
                </a:solidFill>
                <a:latin typeface="Cambria" pitchFamily="34" charset="0"/>
                <a:ea typeface="Cambria" pitchFamily="34" charset="-122"/>
                <a:cs typeface="Cambria" pitchFamily="34" charset="-120"/>
              </a:rPr>
              <a:t>2,037</a:t>
            </a:r>
            <a:endParaRPr lang="en-US" sz="2200" dirty="0"/>
          </a:p>
        </p:txBody>
      </p:sp>
      <p:sp>
        <p:nvSpPr>
          <p:cNvPr id="8" name="Text 6"/>
          <p:cNvSpPr txBox="1"/>
          <p:nvPr/>
        </p:nvSpPr>
        <p:spPr>
          <a:xfrm>
            <a:off x="2011680" y="1844345"/>
            <a:ext cx="1051560" cy="378562"/>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Exited customers</a:t>
            </a:r>
            <a:endParaRPr lang="en-US" sz="1200" dirty="0"/>
          </a:p>
        </p:txBody>
      </p:sp>
      <p:sp>
        <p:nvSpPr>
          <p:cNvPr id="9" name="Stat card"/>
          <p:cNvSpPr/>
          <p:nvPr/>
        </p:nvSpPr>
        <p:spPr>
          <a:xfrm>
            <a:off x="3291840" y="1234440"/>
            <a:ext cx="1325880" cy="1051560"/>
          </a:xfrm>
          <a:prstGeom prst="roundRect">
            <a:avLst>
              <a:gd name="adj" fmla="val 6957"/>
            </a:avLst>
          </a:prstGeom>
          <a:solidFill>
            <a:srgbClr val="F3F3F3"/>
          </a:solidFill>
          <a:ln w="12700">
            <a:solidFill>
              <a:srgbClr val="F3F3F3"/>
            </a:solidFill>
            <a:prstDash val="solid"/>
          </a:ln>
        </p:spPr>
      </p:sp>
      <p:sp>
        <p:nvSpPr>
          <p:cNvPr id="10" name="Text 8"/>
          <p:cNvSpPr txBox="1"/>
          <p:nvPr/>
        </p:nvSpPr>
        <p:spPr>
          <a:xfrm>
            <a:off x="3429000" y="1325880"/>
            <a:ext cx="1051560" cy="525780"/>
          </a:xfrm>
          <a:prstGeom prst="rect">
            <a:avLst/>
          </a:prstGeom>
          <a:noFill/>
          <a:ln/>
        </p:spPr>
        <p:txBody>
          <a:bodyPr wrap="square" lIns="0" tIns="0" rIns="0" bIns="0" rtlCol="0" anchor="b"/>
          <a:lstStyle/>
          <a:p>
            <a:pPr marL="0" indent="0">
              <a:buNone/>
            </a:pPr>
            <a:r>
              <a:rPr lang="en-US" sz="2200" b="1" dirty="0">
                <a:solidFill>
                  <a:srgbClr val="262626"/>
                </a:solidFill>
                <a:latin typeface="Cambria" pitchFamily="34" charset="0"/>
                <a:ea typeface="Cambria" pitchFamily="34" charset="-122"/>
                <a:cs typeface="Cambria" pitchFamily="34" charset="-120"/>
              </a:rPr>
              <a:t>7,963</a:t>
            </a:r>
            <a:endParaRPr lang="en-US" sz="2200" dirty="0"/>
          </a:p>
        </p:txBody>
      </p:sp>
      <p:sp>
        <p:nvSpPr>
          <p:cNvPr id="11" name="Text 9"/>
          <p:cNvSpPr txBox="1"/>
          <p:nvPr/>
        </p:nvSpPr>
        <p:spPr>
          <a:xfrm>
            <a:off x="3429000" y="1844345"/>
            <a:ext cx="1051560" cy="378562"/>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Retained customers</a:t>
            </a:r>
            <a:endParaRPr lang="en-US" sz="1200" dirty="0"/>
          </a:p>
        </p:txBody>
      </p:sp>
      <p:sp>
        <p:nvSpPr>
          <p:cNvPr id="12" name="Stat card"/>
          <p:cNvSpPr/>
          <p:nvPr/>
        </p:nvSpPr>
        <p:spPr>
          <a:xfrm>
            <a:off x="457200" y="2423160"/>
            <a:ext cx="1325880" cy="1051560"/>
          </a:xfrm>
          <a:prstGeom prst="roundRect">
            <a:avLst>
              <a:gd name="adj" fmla="val 6957"/>
            </a:avLst>
          </a:prstGeom>
          <a:solidFill>
            <a:srgbClr val="2B2B2B"/>
          </a:solidFill>
          <a:ln w="12700">
            <a:solidFill>
              <a:srgbClr val="2B2B2B"/>
            </a:solidFill>
            <a:prstDash val="solid"/>
          </a:ln>
        </p:spPr>
      </p:sp>
      <p:sp>
        <p:nvSpPr>
          <p:cNvPr id="13" name="Text 11"/>
          <p:cNvSpPr txBox="1"/>
          <p:nvPr/>
        </p:nvSpPr>
        <p:spPr>
          <a:xfrm>
            <a:off x="594360" y="2514600"/>
            <a:ext cx="1051560" cy="525780"/>
          </a:xfrm>
          <a:prstGeom prst="rect">
            <a:avLst/>
          </a:prstGeom>
          <a:noFill/>
          <a:ln/>
        </p:spPr>
        <p:txBody>
          <a:bodyPr wrap="square" lIns="0" tIns="0" rIns="0" bIns="0" rtlCol="0" anchor="b"/>
          <a:lstStyle/>
          <a:p>
            <a:pPr marL="0" indent="0">
              <a:buNone/>
            </a:pPr>
            <a:r>
              <a:rPr lang="en-US" sz="2200" b="1" dirty="0">
                <a:solidFill>
                  <a:srgbClr val="E0C22E"/>
                </a:solidFill>
                <a:latin typeface="Cambria" pitchFamily="34" charset="0"/>
                <a:ea typeface="Cambria" pitchFamily="34" charset="-122"/>
                <a:cs typeface="Cambria" pitchFamily="34" charset="-120"/>
              </a:rPr>
              <a:t>20.37%</a:t>
            </a:r>
            <a:endParaRPr lang="en-US" sz="2200" dirty="0"/>
          </a:p>
        </p:txBody>
      </p:sp>
      <p:sp>
        <p:nvSpPr>
          <p:cNvPr id="14" name="Text 12"/>
          <p:cNvSpPr txBox="1"/>
          <p:nvPr/>
        </p:nvSpPr>
        <p:spPr>
          <a:xfrm>
            <a:off x="594360" y="3033065"/>
            <a:ext cx="1051560" cy="378562"/>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Churn rate</a:t>
            </a:r>
            <a:endParaRPr lang="en-US" sz="1200" dirty="0"/>
          </a:p>
        </p:txBody>
      </p:sp>
      <p:sp>
        <p:nvSpPr>
          <p:cNvPr id="15" name="Stat card"/>
          <p:cNvSpPr/>
          <p:nvPr/>
        </p:nvSpPr>
        <p:spPr>
          <a:xfrm>
            <a:off x="1874520" y="2423160"/>
            <a:ext cx="1325880" cy="1051560"/>
          </a:xfrm>
          <a:prstGeom prst="roundRect">
            <a:avLst>
              <a:gd name="adj" fmla="val 6957"/>
            </a:avLst>
          </a:prstGeom>
          <a:solidFill>
            <a:srgbClr val="F3F3F3"/>
          </a:solidFill>
          <a:ln w="12700">
            <a:solidFill>
              <a:srgbClr val="F3F3F3"/>
            </a:solidFill>
            <a:prstDash val="solid"/>
          </a:ln>
        </p:spPr>
      </p:sp>
      <p:sp>
        <p:nvSpPr>
          <p:cNvPr id="16" name="Text 14"/>
          <p:cNvSpPr txBox="1"/>
          <p:nvPr/>
        </p:nvSpPr>
        <p:spPr>
          <a:xfrm>
            <a:off x="2011680" y="2514600"/>
            <a:ext cx="1051560" cy="525780"/>
          </a:xfrm>
          <a:prstGeom prst="rect">
            <a:avLst/>
          </a:prstGeom>
          <a:noFill/>
          <a:ln/>
        </p:spPr>
        <p:txBody>
          <a:bodyPr wrap="square" lIns="0" tIns="0" rIns="0" bIns="0" rtlCol="0" anchor="b"/>
          <a:lstStyle/>
          <a:p>
            <a:pPr marL="0" indent="0">
              <a:buNone/>
            </a:pPr>
            <a:r>
              <a:rPr lang="en-US" sz="2200" b="1" dirty="0">
                <a:solidFill>
                  <a:srgbClr val="262626"/>
                </a:solidFill>
                <a:latin typeface="Cambria" pitchFamily="34" charset="0"/>
                <a:ea typeface="Cambria" pitchFamily="34" charset="-122"/>
                <a:cs typeface="Cambria" pitchFamily="34" charset="-120"/>
              </a:rPr>
              <a:t>650.53</a:t>
            </a:r>
            <a:endParaRPr lang="en-US" sz="2200" dirty="0"/>
          </a:p>
        </p:txBody>
      </p:sp>
      <p:sp>
        <p:nvSpPr>
          <p:cNvPr id="17" name="Text 15"/>
          <p:cNvSpPr txBox="1"/>
          <p:nvPr/>
        </p:nvSpPr>
        <p:spPr>
          <a:xfrm>
            <a:off x="2011680" y="3033065"/>
            <a:ext cx="1051560" cy="378562"/>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Avg credit score</a:t>
            </a:r>
            <a:endParaRPr lang="en-US" sz="1200" dirty="0"/>
          </a:p>
        </p:txBody>
      </p:sp>
      <p:sp>
        <p:nvSpPr>
          <p:cNvPr id="18" name="Stat card"/>
          <p:cNvSpPr/>
          <p:nvPr/>
        </p:nvSpPr>
        <p:spPr>
          <a:xfrm>
            <a:off x="3291840" y="2423160"/>
            <a:ext cx="1325880" cy="1051560"/>
          </a:xfrm>
          <a:prstGeom prst="roundRect">
            <a:avLst>
              <a:gd name="adj" fmla="val 6957"/>
            </a:avLst>
          </a:prstGeom>
          <a:solidFill>
            <a:srgbClr val="F3F3F3"/>
          </a:solidFill>
          <a:ln w="12700">
            <a:solidFill>
              <a:srgbClr val="F3F3F3"/>
            </a:solidFill>
            <a:prstDash val="solid"/>
          </a:ln>
        </p:spPr>
      </p:sp>
      <p:sp>
        <p:nvSpPr>
          <p:cNvPr id="19" name="Text 17"/>
          <p:cNvSpPr txBox="1"/>
          <p:nvPr/>
        </p:nvSpPr>
        <p:spPr>
          <a:xfrm>
            <a:off x="3429000" y="2514600"/>
            <a:ext cx="1051560" cy="525780"/>
          </a:xfrm>
          <a:prstGeom prst="rect">
            <a:avLst/>
          </a:prstGeom>
          <a:noFill/>
          <a:ln/>
        </p:spPr>
        <p:txBody>
          <a:bodyPr wrap="square" lIns="0" tIns="0" rIns="0" bIns="0" rtlCol="0" anchor="b"/>
          <a:lstStyle/>
          <a:p>
            <a:pPr marL="0" indent="0">
              <a:buNone/>
            </a:pPr>
            <a:r>
              <a:rPr lang="en-US" sz="2200" b="1" dirty="0">
                <a:solidFill>
                  <a:srgbClr val="262626"/>
                </a:solidFill>
                <a:latin typeface="Cambria" pitchFamily="34" charset="0"/>
                <a:ea typeface="Cambria" pitchFamily="34" charset="-122"/>
                <a:cs typeface="Cambria" pitchFamily="34" charset="-120"/>
              </a:rPr>
              <a:t>76.49K</a:t>
            </a:r>
            <a:endParaRPr lang="en-US" sz="2200" dirty="0"/>
          </a:p>
        </p:txBody>
      </p:sp>
      <p:sp>
        <p:nvSpPr>
          <p:cNvPr id="20" name="Text 18"/>
          <p:cNvSpPr txBox="1"/>
          <p:nvPr/>
        </p:nvSpPr>
        <p:spPr>
          <a:xfrm>
            <a:off x="3429000" y="3033065"/>
            <a:ext cx="1051560" cy="378562"/>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Avg balance</a:t>
            </a:r>
            <a:endParaRPr lang="en-US" sz="1200" dirty="0"/>
          </a:p>
        </p:txBody>
      </p:sp>
      <p:graphicFrame>
        <p:nvGraphicFramePr>
          <p:cNvPr id="21" name="Chart 0"/>
          <p:cNvGraphicFramePr/>
          <p:nvPr/>
        </p:nvGraphicFramePr>
        <p:xfrm>
          <a:off x="4846320" y="1188720"/>
          <a:ext cx="38404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2" name="Takeaway"/>
          <p:cNvSpPr/>
          <p:nvPr/>
        </p:nvSpPr>
        <p:spPr>
          <a:xfrm>
            <a:off x="457200" y="4114800"/>
            <a:ext cx="8229600" cy="502920"/>
          </a:xfrm>
          <a:prstGeom prst="roundRect">
            <a:avLst>
              <a:gd name="adj" fmla="val 14545"/>
            </a:avLst>
          </a:prstGeom>
          <a:solidFill>
            <a:srgbClr val="2B2B2B"/>
          </a:solidFill>
          <a:ln w="12700">
            <a:solidFill>
              <a:srgbClr val="2B2B2B"/>
            </a:solidFill>
            <a:prstDash val="solid"/>
          </a:ln>
        </p:spPr>
      </p:sp>
      <p:sp>
        <p:nvSpPr>
          <p:cNvPr id="23" name="Text 20"/>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Churn stays near 20% in every joining-year cohort, so growth is not improving retention.</a:t>
            </a:r>
            <a:endParaRPr lang="en-US" sz="14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Churn is highest for 50+, Germany and women</a:t>
            </a:r>
            <a:endParaRPr lang="en-US" sz="2600" dirty="0"/>
          </a:p>
        </p:txBody>
      </p:sp>
      <p:graphicFrame>
        <p:nvGraphicFramePr>
          <p:cNvPr id="3" name="Chart 0"/>
          <p:cNvGraphicFramePr/>
          <p:nvPr/>
        </p:nvGraphicFramePr>
        <p:xfrm>
          <a:off x="457200" y="1188720"/>
          <a:ext cx="269748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3218688" y="1188720"/>
          <a:ext cx="2697480" cy="28346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2"/>
          <p:cNvGraphicFramePr/>
          <p:nvPr/>
        </p:nvGraphicFramePr>
        <p:xfrm>
          <a:off x="5989320" y="1188720"/>
          <a:ext cx="269748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6" name="Takeaway"/>
          <p:cNvSpPr/>
          <p:nvPr/>
        </p:nvSpPr>
        <p:spPr>
          <a:xfrm>
            <a:off x="457200" y="4114800"/>
            <a:ext cx="8229600" cy="502920"/>
          </a:xfrm>
          <a:prstGeom prst="roundRect">
            <a:avLst>
              <a:gd name="adj" fmla="val 14545"/>
            </a:avLst>
          </a:prstGeom>
          <a:solidFill>
            <a:srgbClr val="2B2B2B"/>
          </a:solidFill>
          <a:ln w="12700">
            <a:solidFill>
              <a:srgbClr val="2B2B2B"/>
            </a:solidFill>
            <a:prstDash val="solid"/>
          </a:ln>
        </p:spPr>
      </p:sp>
      <p:sp>
        <p:nvSpPr>
          <p:cNvPr id="7" name="Text 2"/>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Age is the strongest signal; Germany churns at 2x France and Spain.</a:t>
            </a:r>
            <a:endParaRPr lang="en-US" sz="14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Product count is the strongest lever: 2 products retain</a:t>
            </a:r>
            <a:endParaRPr lang="en-US" sz="2600" dirty="0"/>
          </a:p>
        </p:txBody>
      </p:sp>
      <p:graphicFrame>
        <p:nvGraphicFramePr>
          <p:cNvPr id="3" name="Chart 0"/>
          <p:cNvGraphicFramePr/>
          <p:nvPr/>
        </p:nvGraphicFramePr>
        <p:xfrm>
          <a:off x="457200" y="1188720"/>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4" name="Stat card"/>
          <p:cNvSpPr/>
          <p:nvPr/>
        </p:nvSpPr>
        <p:spPr>
          <a:xfrm>
            <a:off x="5943600" y="1188720"/>
            <a:ext cx="2743200" cy="822960"/>
          </a:xfrm>
          <a:prstGeom prst="roundRect">
            <a:avLst>
              <a:gd name="adj" fmla="val 8889"/>
            </a:avLst>
          </a:prstGeom>
          <a:solidFill>
            <a:srgbClr val="2B2B2B"/>
          </a:solidFill>
          <a:ln w="12700">
            <a:solidFill>
              <a:srgbClr val="2B2B2B"/>
            </a:solidFill>
            <a:prstDash val="solid"/>
          </a:ln>
        </p:spPr>
      </p:sp>
      <p:sp>
        <p:nvSpPr>
          <p:cNvPr id="5" name="Text 2"/>
          <p:cNvSpPr txBox="1"/>
          <p:nvPr/>
        </p:nvSpPr>
        <p:spPr>
          <a:xfrm>
            <a:off x="6080760" y="1280160"/>
            <a:ext cx="2468880" cy="411480"/>
          </a:xfrm>
          <a:prstGeom prst="rect">
            <a:avLst/>
          </a:prstGeom>
          <a:noFill/>
          <a:ln/>
        </p:spPr>
        <p:txBody>
          <a:bodyPr wrap="square" lIns="0" tIns="0" rIns="0" bIns="0" rtlCol="0" anchor="b"/>
          <a:lstStyle/>
          <a:p>
            <a:pPr marL="0" indent="0">
              <a:buNone/>
            </a:pPr>
            <a:r>
              <a:rPr lang="en-US" sz="2800" b="1" dirty="0">
                <a:solidFill>
                  <a:srgbClr val="E0C22E"/>
                </a:solidFill>
                <a:latin typeface="Cambria" pitchFamily="34" charset="0"/>
                <a:ea typeface="Cambria" pitchFamily="34" charset="-122"/>
                <a:cs typeface="Cambria" pitchFamily="34" charset="-120"/>
              </a:rPr>
              <a:t>7.6%</a:t>
            </a:r>
            <a:endParaRPr lang="en-US" sz="2800" dirty="0"/>
          </a:p>
        </p:txBody>
      </p:sp>
      <p:sp>
        <p:nvSpPr>
          <p:cNvPr id="6" name="Text 3"/>
          <p:cNvSpPr txBox="1"/>
          <p:nvPr/>
        </p:nvSpPr>
        <p:spPr>
          <a:xfrm>
            <a:off x="6080760" y="1666037"/>
            <a:ext cx="2468880" cy="296266"/>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churn with 2 products</a:t>
            </a:r>
            <a:endParaRPr lang="en-US" sz="1200" dirty="0"/>
          </a:p>
        </p:txBody>
      </p:sp>
      <p:sp>
        <p:nvSpPr>
          <p:cNvPr id="7" name="Stat card"/>
          <p:cNvSpPr/>
          <p:nvPr/>
        </p:nvSpPr>
        <p:spPr>
          <a:xfrm>
            <a:off x="5943600" y="2103120"/>
            <a:ext cx="2743200" cy="822960"/>
          </a:xfrm>
          <a:prstGeom prst="roundRect">
            <a:avLst>
              <a:gd name="adj" fmla="val 8889"/>
            </a:avLst>
          </a:prstGeom>
          <a:solidFill>
            <a:srgbClr val="F3F3F3"/>
          </a:solidFill>
          <a:ln w="12700">
            <a:solidFill>
              <a:srgbClr val="F3F3F3"/>
            </a:solidFill>
            <a:prstDash val="solid"/>
          </a:ln>
        </p:spPr>
      </p:sp>
      <p:sp>
        <p:nvSpPr>
          <p:cNvPr id="8" name="Text 5"/>
          <p:cNvSpPr txBox="1"/>
          <p:nvPr/>
        </p:nvSpPr>
        <p:spPr>
          <a:xfrm>
            <a:off x="6080760" y="2194560"/>
            <a:ext cx="2468880" cy="411480"/>
          </a:xfrm>
          <a:prstGeom prst="rect">
            <a:avLst/>
          </a:prstGeom>
          <a:noFill/>
          <a:ln/>
        </p:spPr>
        <p:txBody>
          <a:bodyPr wrap="square" lIns="0" tIns="0" rIns="0" bIns="0" rtlCol="0" anchor="b"/>
          <a:lstStyle/>
          <a:p>
            <a:pPr marL="0" indent="0">
              <a:buNone/>
            </a:pPr>
            <a:r>
              <a:rPr lang="en-US" sz="2800" b="1" dirty="0">
                <a:solidFill>
                  <a:srgbClr val="262626"/>
                </a:solidFill>
                <a:latin typeface="Cambria" pitchFamily="34" charset="0"/>
                <a:ea typeface="Cambria" pitchFamily="34" charset="-122"/>
                <a:cs typeface="Cambria" pitchFamily="34" charset="-120"/>
              </a:rPr>
              <a:t>27.7%</a:t>
            </a:r>
            <a:endParaRPr lang="en-US" sz="2800" dirty="0"/>
          </a:p>
        </p:txBody>
      </p:sp>
      <p:sp>
        <p:nvSpPr>
          <p:cNvPr id="9" name="Text 6"/>
          <p:cNvSpPr txBox="1"/>
          <p:nvPr/>
        </p:nvSpPr>
        <p:spPr>
          <a:xfrm>
            <a:off x="6080760" y="2580437"/>
            <a:ext cx="2468880" cy="296266"/>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churn with 1 product</a:t>
            </a:r>
            <a:endParaRPr lang="en-US" sz="1200" dirty="0"/>
          </a:p>
        </p:txBody>
      </p:sp>
      <p:sp>
        <p:nvSpPr>
          <p:cNvPr id="10" name="Stat card"/>
          <p:cNvSpPr/>
          <p:nvPr/>
        </p:nvSpPr>
        <p:spPr>
          <a:xfrm>
            <a:off x="5943600" y="3017520"/>
            <a:ext cx="2743200" cy="822960"/>
          </a:xfrm>
          <a:prstGeom prst="roundRect">
            <a:avLst>
              <a:gd name="adj" fmla="val 8889"/>
            </a:avLst>
          </a:prstGeom>
          <a:solidFill>
            <a:srgbClr val="F3F3F3"/>
          </a:solidFill>
          <a:ln w="12700">
            <a:solidFill>
              <a:srgbClr val="F3F3F3"/>
            </a:solidFill>
            <a:prstDash val="solid"/>
          </a:ln>
        </p:spPr>
      </p:sp>
      <p:sp>
        <p:nvSpPr>
          <p:cNvPr id="11" name="Text 8"/>
          <p:cNvSpPr txBox="1"/>
          <p:nvPr/>
        </p:nvSpPr>
        <p:spPr>
          <a:xfrm>
            <a:off x="6080760" y="3108960"/>
            <a:ext cx="2468880" cy="411480"/>
          </a:xfrm>
          <a:prstGeom prst="rect">
            <a:avLst/>
          </a:prstGeom>
          <a:noFill/>
          <a:ln/>
        </p:spPr>
        <p:txBody>
          <a:bodyPr wrap="square" lIns="0" tIns="0" rIns="0" bIns="0" rtlCol="0" anchor="b"/>
          <a:lstStyle/>
          <a:p>
            <a:pPr marL="0" indent="0">
              <a:buNone/>
            </a:pPr>
            <a:r>
              <a:rPr lang="en-US" sz="2800" b="1" dirty="0">
                <a:solidFill>
                  <a:srgbClr val="262626"/>
                </a:solidFill>
                <a:latin typeface="Cambria" pitchFamily="34" charset="0"/>
                <a:ea typeface="Cambria" pitchFamily="34" charset="-122"/>
                <a:cs typeface="Cambria" pitchFamily="34" charset="-120"/>
              </a:rPr>
              <a:t>83–100%</a:t>
            </a:r>
            <a:endParaRPr lang="en-US" sz="2800" dirty="0"/>
          </a:p>
        </p:txBody>
      </p:sp>
      <p:sp>
        <p:nvSpPr>
          <p:cNvPr id="12" name="Text 9"/>
          <p:cNvSpPr txBox="1"/>
          <p:nvPr/>
        </p:nvSpPr>
        <p:spPr>
          <a:xfrm>
            <a:off x="6080760" y="3494837"/>
            <a:ext cx="2468880" cy="296266"/>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churn with 3–4 products</a:t>
            </a:r>
            <a:endParaRPr lang="en-US" sz="1200" dirty="0"/>
          </a:p>
        </p:txBody>
      </p:sp>
      <p:sp>
        <p:nvSpPr>
          <p:cNvPr id="13" name="Takeaway"/>
          <p:cNvSpPr/>
          <p:nvPr/>
        </p:nvSpPr>
        <p:spPr>
          <a:xfrm>
            <a:off x="457200" y="4114800"/>
            <a:ext cx="8229600" cy="502920"/>
          </a:xfrm>
          <a:prstGeom prst="roundRect">
            <a:avLst>
              <a:gd name="adj" fmla="val 14545"/>
            </a:avLst>
          </a:prstGeom>
          <a:solidFill>
            <a:srgbClr val="2B2B2B"/>
          </a:solidFill>
          <a:ln w="12700">
            <a:solidFill>
              <a:srgbClr val="2B2B2B"/>
            </a:solidFill>
            <a:prstDash val="solid"/>
          </a:ln>
        </p:spPr>
      </p:sp>
      <p:sp>
        <p:nvSpPr>
          <p:cNvPr id="14" name="Text 11"/>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Offer suitable second products, and investigate why 3–4 product customers leave.</a:t>
            </a:r>
            <a:endParaRPr lang="en-US" sz="14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Activity retains customers; card ownership does not</a:t>
            </a:r>
            <a:endParaRPr lang="en-US" sz="2600" dirty="0"/>
          </a:p>
        </p:txBody>
      </p:sp>
      <p:graphicFrame>
        <p:nvGraphicFramePr>
          <p:cNvPr id="3" name="Chart 0"/>
          <p:cNvGraphicFramePr/>
          <p:nvPr/>
        </p:nvGraphicFramePr>
        <p:xfrm>
          <a:off x="457200" y="1188720"/>
          <a:ext cx="393192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4754880" y="1188720"/>
          <a:ext cx="393192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5" name="Takeaway"/>
          <p:cNvSpPr/>
          <p:nvPr/>
        </p:nvSpPr>
        <p:spPr>
          <a:xfrm>
            <a:off x="457200" y="4114800"/>
            <a:ext cx="8229600" cy="502920"/>
          </a:xfrm>
          <a:prstGeom prst="roundRect">
            <a:avLst>
              <a:gd name="adj" fmla="val 14545"/>
            </a:avLst>
          </a:prstGeom>
          <a:solidFill>
            <a:srgbClr val="2B2B2B"/>
          </a:solidFill>
          <a:ln w="12700">
            <a:solidFill>
              <a:srgbClr val="2B2B2B"/>
            </a:solidFill>
            <a:prstDash val="solid"/>
          </a:ln>
        </p:spPr>
      </p:sp>
      <p:sp>
        <p:nvSpPr>
          <p:cNvPr id="6" name="Text 2"/>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Inactive members churn almost 2x as often; reward usage, not just card ownership.</a:t>
            </a:r>
            <a:endParaRPr lang="en-US" sz="14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Germany: high balances, but the highest churn</a:t>
            </a:r>
            <a:endParaRPr lang="en-US" sz="2600" dirty="0"/>
          </a:p>
        </p:txBody>
      </p:sp>
      <p:graphicFrame>
        <p:nvGraphicFramePr>
          <p:cNvPr id="3" name="Chart 0"/>
          <p:cNvGraphicFramePr/>
          <p:nvPr/>
        </p:nvGraphicFramePr>
        <p:xfrm>
          <a:off x="457200" y="1188720"/>
          <a:ext cx="393192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4754880" y="1188720"/>
          <a:ext cx="393192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5" name="Takeaway"/>
          <p:cNvSpPr/>
          <p:nvPr/>
        </p:nvSpPr>
        <p:spPr>
          <a:xfrm>
            <a:off x="457200" y="4114800"/>
            <a:ext cx="8229600" cy="502920"/>
          </a:xfrm>
          <a:prstGeom prst="roundRect">
            <a:avLst>
              <a:gd name="adj" fmla="val 14545"/>
            </a:avLst>
          </a:prstGeom>
          <a:solidFill>
            <a:srgbClr val="2B2B2B"/>
          </a:solidFill>
          <a:ln w="12700">
            <a:solidFill>
              <a:srgbClr val="2B2B2B"/>
            </a:solidFill>
            <a:prstDash val="solid"/>
          </a:ln>
        </p:spPr>
      </p:sp>
      <p:sp>
        <p:nvSpPr>
          <p:cNvPr id="6" name="Text 2"/>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Higher balance does not mean loyalty: focus retention work on high-balance German customers.</a:t>
            </a:r>
            <a:endParaRPr lang="en-US" sz="14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Credit score, salary and tenure explain little</a:t>
            </a:r>
            <a:endParaRPr lang="en-US" sz="2600" dirty="0"/>
          </a:p>
        </p:txBody>
      </p:sp>
      <p:sp>
        <p:nvSpPr>
          <p:cNvPr id="3" name="Finding card"/>
          <p:cNvSpPr/>
          <p:nvPr/>
        </p:nvSpPr>
        <p:spPr>
          <a:xfrm>
            <a:off x="457200" y="1280160"/>
            <a:ext cx="2615184" cy="2651760"/>
          </a:xfrm>
          <a:prstGeom prst="roundRect">
            <a:avLst>
              <a:gd name="adj" fmla="val 2797"/>
            </a:avLst>
          </a:prstGeom>
          <a:solidFill>
            <a:srgbClr val="F3F3F3"/>
          </a:solidFill>
          <a:ln w="12700">
            <a:solidFill>
              <a:srgbClr val="F3F3F3"/>
            </a:solidFill>
            <a:prstDash val="solid"/>
          </a:ln>
        </p:spPr>
      </p:sp>
      <p:sp>
        <p:nvSpPr>
          <p:cNvPr id="4" name="Text 2"/>
          <p:cNvSpPr txBox="1"/>
          <p:nvPr/>
        </p:nvSpPr>
        <p:spPr>
          <a:xfrm>
            <a:off x="640080" y="1463040"/>
            <a:ext cx="2249424" cy="457200"/>
          </a:xfrm>
          <a:prstGeom prst="rect">
            <a:avLst/>
          </a:prstGeom>
          <a:noFill/>
          <a:ln/>
        </p:spPr>
        <p:txBody>
          <a:bodyPr wrap="square" lIns="0" tIns="0" rIns="0" bIns="0" rtlCol="0" anchor="ctr"/>
          <a:lstStyle/>
          <a:p>
            <a:pPr marL="0" indent="0">
              <a:buNone/>
            </a:pPr>
            <a:r>
              <a:rPr lang="en-US" sz="2000" b="1" dirty="0">
                <a:solidFill>
                  <a:srgbClr val="262626"/>
                </a:solidFill>
                <a:latin typeface="Cambria" pitchFamily="34" charset="0"/>
                <a:ea typeface="Cambria" pitchFamily="34" charset="-122"/>
                <a:cs typeface="Cambria" pitchFamily="34" charset="-120"/>
              </a:rPr>
              <a:t>Credit score</a:t>
            </a:r>
            <a:endParaRPr lang="en-US" sz="2000" dirty="0"/>
          </a:p>
        </p:txBody>
      </p:sp>
      <p:sp>
        <p:nvSpPr>
          <p:cNvPr id="5" name="Text 3"/>
          <p:cNvSpPr txBox="1"/>
          <p:nvPr/>
        </p:nvSpPr>
        <p:spPr>
          <a:xfrm>
            <a:off x="640080" y="2011680"/>
            <a:ext cx="2249424" cy="1737360"/>
          </a:xfrm>
          <a:prstGeom prst="rect">
            <a:avLst/>
          </a:prstGeom>
          <a:noFill/>
          <a:ln/>
        </p:spPr>
        <p:txBody>
          <a:bodyPr wrap="square" lIns="0" tIns="0" rIns="0" bIns="0" rtlCol="0" anchor="t"/>
          <a:lstStyle/>
          <a:p>
            <a:pPr marL="0" indent="0">
              <a:buNone/>
            </a:pPr>
            <a:r>
              <a:rPr lang="en-US" sz="1600" dirty="0">
                <a:solidFill>
                  <a:srgbClr val="262626"/>
                </a:solidFill>
                <a:latin typeface="Calibri" pitchFamily="34" charset="0"/>
                <a:ea typeface="Calibri" pitchFamily="34" charset="-122"/>
                <a:cs typeface="Calibri" pitchFamily="34" charset="-120"/>
              </a:rPr>
              <a:t>Exit rate is highest below 580 (22.02%), but credit score alone separates leavers from stayers only weakly.</a:t>
            </a:r>
            <a:endParaRPr lang="en-US" sz="1600" dirty="0"/>
          </a:p>
        </p:txBody>
      </p:sp>
      <p:sp>
        <p:nvSpPr>
          <p:cNvPr id="6" name="Finding card"/>
          <p:cNvSpPr/>
          <p:nvPr/>
        </p:nvSpPr>
        <p:spPr>
          <a:xfrm>
            <a:off x="3264408" y="1280160"/>
            <a:ext cx="2615184" cy="2651760"/>
          </a:xfrm>
          <a:prstGeom prst="roundRect">
            <a:avLst>
              <a:gd name="adj" fmla="val 2797"/>
            </a:avLst>
          </a:prstGeom>
          <a:solidFill>
            <a:srgbClr val="F3F3F3"/>
          </a:solidFill>
          <a:ln w="12700">
            <a:solidFill>
              <a:srgbClr val="F3F3F3"/>
            </a:solidFill>
            <a:prstDash val="solid"/>
          </a:ln>
        </p:spPr>
      </p:sp>
      <p:sp>
        <p:nvSpPr>
          <p:cNvPr id="7" name="Text 5"/>
          <p:cNvSpPr txBox="1"/>
          <p:nvPr/>
        </p:nvSpPr>
        <p:spPr>
          <a:xfrm>
            <a:off x="3447288" y="1463040"/>
            <a:ext cx="2249424" cy="457200"/>
          </a:xfrm>
          <a:prstGeom prst="rect">
            <a:avLst/>
          </a:prstGeom>
          <a:noFill/>
          <a:ln/>
        </p:spPr>
        <p:txBody>
          <a:bodyPr wrap="square" lIns="0" tIns="0" rIns="0" bIns="0" rtlCol="0" anchor="ctr"/>
          <a:lstStyle/>
          <a:p>
            <a:pPr marL="0" indent="0">
              <a:buNone/>
            </a:pPr>
            <a:r>
              <a:rPr lang="en-US" sz="2000" b="1" dirty="0">
                <a:solidFill>
                  <a:srgbClr val="262626"/>
                </a:solidFill>
                <a:latin typeface="Cambria" pitchFamily="34" charset="0"/>
                <a:ea typeface="Cambria" pitchFamily="34" charset="-122"/>
                <a:cs typeface="Cambria" pitchFamily="34" charset="-120"/>
              </a:rPr>
              <a:t>Salary</a:t>
            </a:r>
            <a:endParaRPr lang="en-US" sz="2000" dirty="0"/>
          </a:p>
        </p:txBody>
      </p:sp>
      <p:sp>
        <p:nvSpPr>
          <p:cNvPr id="8" name="Text 6"/>
          <p:cNvSpPr txBox="1"/>
          <p:nvPr/>
        </p:nvSpPr>
        <p:spPr>
          <a:xfrm>
            <a:off x="3447288" y="2011680"/>
            <a:ext cx="2249424" cy="1737360"/>
          </a:xfrm>
          <a:prstGeom prst="rect">
            <a:avLst/>
          </a:prstGeom>
          <a:noFill/>
          <a:ln/>
        </p:spPr>
        <p:txBody>
          <a:bodyPr wrap="square" lIns="0" tIns="0" rIns="0" bIns="0" rtlCol="0" anchor="t"/>
          <a:lstStyle/>
          <a:p>
            <a:pPr marL="0" indent="0">
              <a:buNone/>
            </a:pPr>
            <a:r>
              <a:rPr lang="en-US" sz="1600" dirty="0">
                <a:solidFill>
                  <a:srgbClr val="262626"/>
                </a:solidFill>
                <a:latin typeface="Calibri" pitchFamily="34" charset="0"/>
                <a:ea typeface="Calibri" pitchFamily="34" charset="-122"/>
                <a:cs typeface="Calibri" pitchFamily="34" charset="-120"/>
              </a:rPr>
              <a:t>No correlation between salary and balance, or salary and credit score, for stayers or leavers.</a:t>
            </a:r>
            <a:endParaRPr lang="en-US" sz="1600" dirty="0"/>
          </a:p>
        </p:txBody>
      </p:sp>
      <p:sp>
        <p:nvSpPr>
          <p:cNvPr id="9" name="Finding card"/>
          <p:cNvSpPr/>
          <p:nvPr/>
        </p:nvSpPr>
        <p:spPr>
          <a:xfrm>
            <a:off x="6071616" y="1280160"/>
            <a:ext cx="2615184" cy="2651760"/>
          </a:xfrm>
          <a:prstGeom prst="roundRect">
            <a:avLst>
              <a:gd name="adj" fmla="val 2797"/>
            </a:avLst>
          </a:prstGeom>
          <a:solidFill>
            <a:srgbClr val="F3F3F3"/>
          </a:solidFill>
          <a:ln w="12700">
            <a:solidFill>
              <a:srgbClr val="F3F3F3"/>
            </a:solidFill>
            <a:prstDash val="solid"/>
          </a:ln>
        </p:spPr>
      </p:sp>
      <p:sp>
        <p:nvSpPr>
          <p:cNvPr id="10" name="Text 8"/>
          <p:cNvSpPr txBox="1"/>
          <p:nvPr/>
        </p:nvSpPr>
        <p:spPr>
          <a:xfrm>
            <a:off x="6254496" y="1463040"/>
            <a:ext cx="2249424" cy="457200"/>
          </a:xfrm>
          <a:prstGeom prst="rect">
            <a:avLst/>
          </a:prstGeom>
          <a:noFill/>
          <a:ln/>
        </p:spPr>
        <p:txBody>
          <a:bodyPr wrap="square" lIns="0" tIns="0" rIns="0" bIns="0" rtlCol="0" anchor="ctr"/>
          <a:lstStyle/>
          <a:p>
            <a:pPr marL="0" indent="0">
              <a:buNone/>
            </a:pPr>
            <a:r>
              <a:rPr lang="en-US" sz="2000" b="1" dirty="0">
                <a:solidFill>
                  <a:srgbClr val="262626"/>
                </a:solidFill>
                <a:latin typeface="Cambria" pitchFamily="34" charset="0"/>
                <a:ea typeface="Cambria" pitchFamily="34" charset="-122"/>
                <a:cs typeface="Cambria" pitchFamily="34" charset="-120"/>
              </a:rPr>
              <a:t>Tenure</a:t>
            </a:r>
            <a:endParaRPr lang="en-US" sz="2000" dirty="0"/>
          </a:p>
        </p:txBody>
      </p:sp>
      <p:sp>
        <p:nvSpPr>
          <p:cNvPr id="11" name="Text 9"/>
          <p:cNvSpPr txBox="1"/>
          <p:nvPr/>
        </p:nvSpPr>
        <p:spPr>
          <a:xfrm>
            <a:off x="6254496" y="2011680"/>
            <a:ext cx="2249424" cy="1737360"/>
          </a:xfrm>
          <a:prstGeom prst="rect">
            <a:avLst/>
          </a:prstGeom>
          <a:noFill/>
          <a:ln/>
        </p:spPr>
        <p:txBody>
          <a:bodyPr wrap="square" lIns="0" tIns="0" rIns="0" bIns="0" rtlCol="0" anchor="t"/>
          <a:lstStyle/>
          <a:p>
            <a:pPr marL="0" indent="0">
              <a:buNone/>
            </a:pPr>
            <a:r>
              <a:rPr lang="en-US" sz="1600" dirty="0">
                <a:solidFill>
                  <a:srgbClr val="262626"/>
                </a:solidFill>
                <a:latin typeface="Calibri" pitchFamily="34" charset="0"/>
                <a:ea typeface="Calibri" pitchFamily="34" charset="-122"/>
                <a:cs typeface="Calibri" pitchFamily="34" charset="-120"/>
              </a:rPr>
              <a:t>Churn is about 20% at every tenure; long-term customers are not more loyal than new ones.</a:t>
            </a:r>
            <a:endParaRPr lang="en-US" sz="1600" dirty="0"/>
          </a:p>
        </p:txBody>
      </p:sp>
      <p:sp>
        <p:nvSpPr>
          <p:cNvPr id="12" name="Takeaway"/>
          <p:cNvSpPr/>
          <p:nvPr/>
        </p:nvSpPr>
        <p:spPr>
          <a:xfrm>
            <a:off x="457200" y="4114800"/>
            <a:ext cx="8229600" cy="502920"/>
          </a:xfrm>
          <a:prstGeom prst="roundRect">
            <a:avLst>
              <a:gd name="adj" fmla="val 14545"/>
            </a:avLst>
          </a:prstGeom>
          <a:solidFill>
            <a:srgbClr val="2B2B2B"/>
          </a:solidFill>
          <a:ln w="12700">
            <a:solidFill>
              <a:srgbClr val="2B2B2B"/>
            </a:solidFill>
            <a:prstDash val="solid"/>
          </a:ln>
        </p:spPr>
      </p:sp>
      <p:sp>
        <p:nvSpPr>
          <p:cNvPr id="13" name="Text 11"/>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Segment retention offers by age, products, activity and region, not by these three.</a:t>
            </a:r>
            <a:endParaRPr lang="en-US" sz="14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New customers arrive in waves: Sep, Nov and Dec</a:t>
            </a:r>
            <a:endParaRPr lang="en-US" sz="2600" dirty="0"/>
          </a:p>
        </p:txBody>
      </p:sp>
      <p:graphicFrame>
        <p:nvGraphicFramePr>
          <p:cNvPr id="3" name="Chart 0"/>
          <p:cNvGraphicFramePr/>
          <p:nvPr/>
        </p:nvGraphicFramePr>
        <p:xfrm>
          <a:off x="457200" y="1188720"/>
          <a:ext cx="82296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4" name="Takeaway"/>
          <p:cNvSpPr/>
          <p:nvPr/>
        </p:nvSpPr>
        <p:spPr>
          <a:xfrm>
            <a:off x="457200" y="4114800"/>
            <a:ext cx="8229600" cy="502920"/>
          </a:xfrm>
          <a:prstGeom prst="roundRect">
            <a:avLst>
              <a:gd name="adj" fmla="val 14545"/>
            </a:avLst>
          </a:prstGeom>
          <a:solidFill>
            <a:srgbClr val="2B2B2B"/>
          </a:solidFill>
          <a:ln w="12700">
            <a:solidFill>
              <a:srgbClr val="2B2B2B"/>
            </a:solidFill>
            <a:prstDash val="solid"/>
          </a:ln>
        </p:spPr>
      </p:sp>
      <p:sp>
        <p:nvSpPr>
          <p:cNvPr id="5" name="Text 2"/>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42% of joiners start in Sep, Nov or Dec: plan onboarding and early retention offers around them.</a:t>
            </a:r>
            <a:endParaRPr lang="en-US" sz="14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Power BI dashboard: three interactive pages</a:t>
            </a:r>
            <a:endParaRPr lang="en-US" sz="2600" dirty="0"/>
          </a:p>
        </p:txBody>
      </p:sp>
      <p:pic>
        <p:nvPicPr>
          <p:cNvPr id="3" name="Executive Overview" descr="Power BI Executive Overview page"/>
          <p:cNvPicPr>
            <a:picLocks noChangeAspect="1"/>
          </p:cNvPicPr>
          <p:nvPr/>
        </p:nvPicPr>
        <p:blipFill>
          <a:blip r:embed="rId3"/>
          <a:stretch>
            <a:fillRect/>
          </a:stretch>
        </p:blipFill>
        <p:spPr>
          <a:xfrm>
            <a:off x="457200" y="1188720"/>
            <a:ext cx="5120640" cy="2885846"/>
          </a:xfrm>
          <a:prstGeom prst="rect">
            <a:avLst/>
          </a:prstGeom>
        </p:spPr>
      </p:pic>
      <p:pic>
        <p:nvPicPr>
          <p:cNvPr id="4" name="Customer and Churn Analysis" descr="Power BI Customer and Churn Analysis page"/>
          <p:cNvPicPr>
            <a:picLocks noChangeAspect="1"/>
          </p:cNvPicPr>
          <p:nvPr/>
        </p:nvPicPr>
        <p:blipFill>
          <a:blip r:embed="rId4"/>
          <a:stretch>
            <a:fillRect/>
          </a:stretch>
        </p:blipFill>
        <p:spPr>
          <a:xfrm>
            <a:off x="5760720" y="1188720"/>
            <a:ext cx="2926080" cy="1730045"/>
          </a:xfrm>
          <a:prstGeom prst="rect">
            <a:avLst/>
          </a:prstGeom>
        </p:spPr>
      </p:pic>
      <p:pic>
        <p:nvPicPr>
          <p:cNvPr id="5" name="Product and Customer Behaviour" descr="Power BI Product and Customer Behaviour page"/>
          <p:cNvPicPr>
            <a:picLocks noChangeAspect="1"/>
          </p:cNvPicPr>
          <p:nvPr/>
        </p:nvPicPr>
        <p:blipFill>
          <a:blip r:embed="rId5"/>
          <a:stretch>
            <a:fillRect/>
          </a:stretch>
        </p:blipFill>
        <p:spPr>
          <a:xfrm>
            <a:off x="5760720" y="3035808"/>
            <a:ext cx="2926080" cy="1728216"/>
          </a:xfrm>
          <a:prstGeom prst="rect">
            <a:avLst/>
          </a:prstGeom>
        </p:spPr>
      </p:pic>
      <p:sp>
        <p:nvSpPr>
          <p:cNvPr id="6" name="Text 1"/>
          <p:cNvSpPr txBox="1"/>
          <p:nvPr/>
        </p:nvSpPr>
        <p:spPr>
          <a:xfrm>
            <a:off x="457200" y="4160520"/>
            <a:ext cx="5120640" cy="548640"/>
          </a:xfrm>
          <a:prstGeom prst="rect">
            <a:avLst/>
          </a:prstGeom>
          <a:noFill/>
          <a:ln/>
        </p:spPr>
        <p:txBody>
          <a:bodyPr wrap="square" lIns="0" tIns="0" rIns="0" bIns="0" rtlCol="0" anchor="t"/>
          <a:lstStyle/>
          <a:p>
            <a:pPr marL="0" indent="0">
              <a:buNone/>
            </a:pPr>
            <a:r>
              <a:rPr lang="en-US" sz="1200" dirty="0">
                <a:solidFill>
                  <a:srgbClr val="6B6B6B"/>
                </a:solidFill>
                <a:latin typeface="Calibri" pitchFamily="34" charset="0"/>
                <a:ea typeface="Calibri" pitchFamily="34" charset="-122"/>
                <a:cs typeface="Calibri" pitchFamily="34" charset="-120"/>
              </a:rPr>
              <a:t>Executive Overview  |  Customer &amp; Churn Analysis  |  Product &amp; Customer Behaviour. Slicers: geography, gender, number of products.</a:t>
            </a:r>
            <a:endParaRPr lang="en-US" sz="12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rgbClr val="262626"/>
                </a:solidFill>
                <a:latin typeface="Cambria" pitchFamily="34" charset="0"/>
                <a:ea typeface="Cambria" pitchFamily="34" charset="-122"/>
                <a:cs typeface="Cambria" pitchFamily="34" charset="-120"/>
              </a:rPr>
              <a:t>Recommendations</a:t>
            </a:r>
            <a:endParaRPr lang="en-US" sz="2600" dirty="0"/>
          </a:p>
        </p:txBody>
      </p:sp>
      <p:sp>
        <p:nvSpPr>
          <p:cNvPr id="3" name="Recommendation card"/>
          <p:cNvSpPr/>
          <p:nvPr/>
        </p:nvSpPr>
        <p:spPr>
          <a:xfrm>
            <a:off x="457200" y="1234440"/>
            <a:ext cx="4023360" cy="960120"/>
          </a:xfrm>
          <a:prstGeom prst="roundRect">
            <a:avLst>
              <a:gd name="adj" fmla="val 7619"/>
            </a:avLst>
          </a:prstGeom>
          <a:solidFill>
            <a:srgbClr val="F3F3F3"/>
          </a:solidFill>
          <a:ln w="12700">
            <a:solidFill>
              <a:srgbClr val="F3F3F3"/>
            </a:solidFill>
            <a:prstDash val="solid"/>
          </a:ln>
        </p:spPr>
      </p:sp>
      <p:sp>
        <p:nvSpPr>
          <p:cNvPr id="4" name="Shape 2"/>
          <p:cNvSpPr/>
          <p:nvPr/>
        </p:nvSpPr>
        <p:spPr>
          <a:xfrm>
            <a:off x="594360" y="1481328"/>
            <a:ext cx="457200" cy="457200"/>
          </a:xfrm>
          <a:prstGeom prst="ellipse">
            <a:avLst/>
          </a:prstGeom>
          <a:solidFill>
            <a:srgbClr val="E0C22E"/>
          </a:solidFill>
          <a:ln w="12700">
            <a:solidFill>
              <a:srgbClr val="E0C22E"/>
            </a:solidFill>
            <a:prstDash val="solid"/>
          </a:ln>
        </p:spPr>
      </p:sp>
      <p:sp>
        <p:nvSpPr>
          <p:cNvPr id="5" name="Text 3"/>
          <p:cNvSpPr txBox="1"/>
          <p:nvPr/>
        </p:nvSpPr>
        <p:spPr>
          <a:xfrm>
            <a:off x="594360" y="1481328"/>
            <a:ext cx="457200" cy="457200"/>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234440" y="1234440"/>
            <a:ext cx="3108960" cy="96012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Target Germany</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Engage high-balance customers with regular contact and region-specific campaigns.</a:t>
            </a:r>
            <a:endParaRPr lang="en-US" sz="1400" dirty="0"/>
          </a:p>
        </p:txBody>
      </p:sp>
      <p:sp>
        <p:nvSpPr>
          <p:cNvPr id="7" name="Recommendation card"/>
          <p:cNvSpPr/>
          <p:nvPr/>
        </p:nvSpPr>
        <p:spPr>
          <a:xfrm>
            <a:off x="4663440" y="1234440"/>
            <a:ext cx="4023360" cy="960120"/>
          </a:xfrm>
          <a:prstGeom prst="roundRect">
            <a:avLst>
              <a:gd name="adj" fmla="val 7619"/>
            </a:avLst>
          </a:prstGeom>
          <a:solidFill>
            <a:srgbClr val="F3F3F3"/>
          </a:solidFill>
          <a:ln w="12700">
            <a:solidFill>
              <a:srgbClr val="F3F3F3"/>
            </a:solidFill>
            <a:prstDash val="solid"/>
          </a:ln>
        </p:spPr>
      </p:sp>
      <p:sp>
        <p:nvSpPr>
          <p:cNvPr id="8" name="Shape 6"/>
          <p:cNvSpPr/>
          <p:nvPr/>
        </p:nvSpPr>
        <p:spPr>
          <a:xfrm>
            <a:off x="4800600" y="1481328"/>
            <a:ext cx="457200" cy="457200"/>
          </a:xfrm>
          <a:prstGeom prst="ellipse">
            <a:avLst/>
          </a:prstGeom>
          <a:solidFill>
            <a:srgbClr val="E0C22E"/>
          </a:solidFill>
          <a:ln w="12700">
            <a:solidFill>
              <a:srgbClr val="E0C22E"/>
            </a:solidFill>
            <a:prstDash val="solid"/>
          </a:ln>
        </p:spPr>
      </p:sp>
      <p:sp>
        <p:nvSpPr>
          <p:cNvPr id="9" name="Text 7"/>
          <p:cNvSpPr txBox="1"/>
          <p:nvPr/>
        </p:nvSpPr>
        <p:spPr>
          <a:xfrm>
            <a:off x="4800600" y="1481328"/>
            <a:ext cx="457200" cy="457200"/>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5440680" y="1234440"/>
            <a:ext cx="3108960" cy="96012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Support 50+ customers</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Review service accessibility and offer personalised support.</a:t>
            </a:r>
            <a:endParaRPr lang="en-US" sz="1400" dirty="0"/>
          </a:p>
        </p:txBody>
      </p:sp>
      <p:sp>
        <p:nvSpPr>
          <p:cNvPr id="11" name="Recommendation card"/>
          <p:cNvSpPr/>
          <p:nvPr/>
        </p:nvSpPr>
        <p:spPr>
          <a:xfrm>
            <a:off x="457200" y="2331720"/>
            <a:ext cx="4023360" cy="960120"/>
          </a:xfrm>
          <a:prstGeom prst="roundRect">
            <a:avLst>
              <a:gd name="adj" fmla="val 7619"/>
            </a:avLst>
          </a:prstGeom>
          <a:solidFill>
            <a:srgbClr val="F3F3F3"/>
          </a:solidFill>
          <a:ln w="12700">
            <a:solidFill>
              <a:srgbClr val="F3F3F3"/>
            </a:solidFill>
            <a:prstDash val="solid"/>
          </a:ln>
        </p:spPr>
      </p:sp>
      <p:sp>
        <p:nvSpPr>
          <p:cNvPr id="12" name="Shape 10"/>
          <p:cNvSpPr/>
          <p:nvPr/>
        </p:nvSpPr>
        <p:spPr>
          <a:xfrm>
            <a:off x="594360" y="2578608"/>
            <a:ext cx="457200" cy="457200"/>
          </a:xfrm>
          <a:prstGeom prst="ellipse">
            <a:avLst/>
          </a:prstGeom>
          <a:solidFill>
            <a:srgbClr val="E0C22E"/>
          </a:solidFill>
          <a:ln w="12700">
            <a:solidFill>
              <a:srgbClr val="E0C22E"/>
            </a:solidFill>
            <a:prstDash val="solid"/>
          </a:ln>
        </p:spPr>
      </p:sp>
      <p:sp>
        <p:nvSpPr>
          <p:cNvPr id="13" name="Text 11"/>
          <p:cNvSpPr txBox="1"/>
          <p:nvPr/>
        </p:nvSpPr>
        <p:spPr>
          <a:xfrm>
            <a:off x="594360" y="2578608"/>
            <a:ext cx="457200" cy="457200"/>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234440" y="2331720"/>
            <a:ext cx="3108960" cy="96012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Deepen product use</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Offer suitable second products; audit 3–4 product customers.</a:t>
            </a:r>
            <a:endParaRPr lang="en-US" sz="1400" dirty="0"/>
          </a:p>
        </p:txBody>
      </p:sp>
      <p:sp>
        <p:nvSpPr>
          <p:cNvPr id="15" name="Recommendation card"/>
          <p:cNvSpPr/>
          <p:nvPr/>
        </p:nvSpPr>
        <p:spPr>
          <a:xfrm>
            <a:off x="4663440" y="2331720"/>
            <a:ext cx="4023360" cy="960120"/>
          </a:xfrm>
          <a:prstGeom prst="roundRect">
            <a:avLst>
              <a:gd name="adj" fmla="val 7619"/>
            </a:avLst>
          </a:prstGeom>
          <a:solidFill>
            <a:srgbClr val="F3F3F3"/>
          </a:solidFill>
          <a:ln w="12700">
            <a:solidFill>
              <a:srgbClr val="F3F3F3"/>
            </a:solidFill>
            <a:prstDash val="solid"/>
          </a:ln>
        </p:spPr>
      </p:sp>
      <p:sp>
        <p:nvSpPr>
          <p:cNvPr id="16" name="Shape 14"/>
          <p:cNvSpPr/>
          <p:nvPr/>
        </p:nvSpPr>
        <p:spPr>
          <a:xfrm>
            <a:off x="4800600" y="2578608"/>
            <a:ext cx="457200" cy="457200"/>
          </a:xfrm>
          <a:prstGeom prst="ellipse">
            <a:avLst/>
          </a:prstGeom>
          <a:solidFill>
            <a:srgbClr val="E0C22E"/>
          </a:solidFill>
          <a:ln w="12700">
            <a:solidFill>
              <a:srgbClr val="E0C22E"/>
            </a:solidFill>
            <a:prstDash val="solid"/>
          </a:ln>
        </p:spPr>
      </p:sp>
      <p:sp>
        <p:nvSpPr>
          <p:cNvPr id="17" name="Text 15"/>
          <p:cNvSpPr txBox="1"/>
          <p:nvPr/>
        </p:nvSpPr>
        <p:spPr>
          <a:xfrm>
            <a:off x="4800600" y="2578608"/>
            <a:ext cx="457200" cy="457200"/>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5440680" y="2331720"/>
            <a:ext cx="3108960" cy="96012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Re-activate inactive members</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Usage-based rewards and follow-up with inactive customers.</a:t>
            </a:r>
            <a:endParaRPr lang="en-US" sz="1400" dirty="0"/>
          </a:p>
        </p:txBody>
      </p:sp>
      <p:sp>
        <p:nvSpPr>
          <p:cNvPr id="19" name="Recommendation card"/>
          <p:cNvSpPr/>
          <p:nvPr/>
        </p:nvSpPr>
        <p:spPr>
          <a:xfrm>
            <a:off x="457200" y="3429000"/>
            <a:ext cx="4023360" cy="960120"/>
          </a:xfrm>
          <a:prstGeom prst="roundRect">
            <a:avLst>
              <a:gd name="adj" fmla="val 7619"/>
            </a:avLst>
          </a:prstGeom>
          <a:solidFill>
            <a:srgbClr val="F3F3F3"/>
          </a:solidFill>
          <a:ln w="12700">
            <a:solidFill>
              <a:srgbClr val="F3F3F3"/>
            </a:solidFill>
            <a:prstDash val="solid"/>
          </a:ln>
        </p:spPr>
      </p:sp>
      <p:sp>
        <p:nvSpPr>
          <p:cNvPr id="20" name="Shape 18"/>
          <p:cNvSpPr/>
          <p:nvPr/>
        </p:nvSpPr>
        <p:spPr>
          <a:xfrm>
            <a:off x="594360" y="3675888"/>
            <a:ext cx="457200" cy="457200"/>
          </a:xfrm>
          <a:prstGeom prst="ellipse">
            <a:avLst/>
          </a:prstGeom>
          <a:solidFill>
            <a:srgbClr val="E0C22E"/>
          </a:solidFill>
          <a:ln w="12700">
            <a:solidFill>
              <a:srgbClr val="E0C22E"/>
            </a:solidFill>
            <a:prstDash val="solid"/>
          </a:ln>
        </p:spPr>
      </p:sp>
      <p:sp>
        <p:nvSpPr>
          <p:cNvPr id="21" name="Text 19"/>
          <p:cNvSpPr txBox="1"/>
          <p:nvPr/>
        </p:nvSpPr>
        <p:spPr>
          <a:xfrm>
            <a:off x="594360" y="3675888"/>
            <a:ext cx="457200" cy="457200"/>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5</a:t>
            </a:r>
            <a:endParaRPr lang="en-US" sz="1600" dirty="0"/>
          </a:p>
        </p:txBody>
      </p:sp>
      <p:sp>
        <p:nvSpPr>
          <p:cNvPr id="22" name="Text 20"/>
          <p:cNvSpPr txBox="1"/>
          <p:nvPr/>
        </p:nvSpPr>
        <p:spPr>
          <a:xfrm>
            <a:off x="1234440" y="3429000"/>
            <a:ext cx="3108960" cy="96012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Plan around the waves</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Staff for Sep, Nov, Dec; run activation campaigns in Jan–Feb.</a:t>
            </a:r>
            <a:endParaRPr lang="en-US" sz="1400" dirty="0"/>
          </a:p>
        </p:txBody>
      </p:sp>
      <p:sp>
        <p:nvSpPr>
          <p:cNvPr id="23" name="Recommendation card"/>
          <p:cNvSpPr/>
          <p:nvPr/>
        </p:nvSpPr>
        <p:spPr>
          <a:xfrm>
            <a:off x="4663440" y="3429000"/>
            <a:ext cx="4023360" cy="960120"/>
          </a:xfrm>
          <a:prstGeom prst="roundRect">
            <a:avLst>
              <a:gd name="adj" fmla="val 7619"/>
            </a:avLst>
          </a:prstGeom>
          <a:solidFill>
            <a:srgbClr val="F3F3F3"/>
          </a:solidFill>
          <a:ln w="12700">
            <a:solidFill>
              <a:srgbClr val="F3F3F3"/>
            </a:solidFill>
            <a:prstDash val="solid"/>
          </a:ln>
        </p:spPr>
      </p:sp>
      <p:sp>
        <p:nvSpPr>
          <p:cNvPr id="24" name="Shape 22"/>
          <p:cNvSpPr/>
          <p:nvPr/>
        </p:nvSpPr>
        <p:spPr>
          <a:xfrm>
            <a:off x="4800600" y="3675888"/>
            <a:ext cx="457200" cy="457200"/>
          </a:xfrm>
          <a:prstGeom prst="ellipse">
            <a:avLst/>
          </a:prstGeom>
          <a:solidFill>
            <a:srgbClr val="E0C22E"/>
          </a:solidFill>
          <a:ln w="12700">
            <a:solidFill>
              <a:srgbClr val="E0C22E"/>
            </a:solidFill>
            <a:prstDash val="solid"/>
          </a:ln>
        </p:spPr>
      </p:sp>
      <p:sp>
        <p:nvSpPr>
          <p:cNvPr id="25" name="Text 23"/>
          <p:cNvSpPr txBox="1"/>
          <p:nvPr/>
        </p:nvSpPr>
        <p:spPr>
          <a:xfrm>
            <a:off x="4800600" y="3675888"/>
            <a:ext cx="457200" cy="457200"/>
          </a:xfrm>
          <a:prstGeom prst="rect">
            <a:avLst/>
          </a:prstGeom>
          <a:noFill/>
          <a:ln/>
        </p:spPr>
        <p:txBody>
          <a:bodyPr wrap="square" lIns="0" tIns="0" rIns="0" bIns="0" rtlCol="0" anchor="ctr"/>
          <a:lstStyle/>
          <a:p>
            <a:pPr marL="0" indent="0" algn="ctr">
              <a:buNone/>
            </a:pPr>
            <a:r>
              <a:rPr lang="en-US" sz="1600" b="1" dirty="0">
                <a:solidFill>
                  <a:srgbClr val="2B2B2B"/>
                </a:solidFill>
                <a:latin typeface="Cambria" pitchFamily="34" charset="0"/>
                <a:ea typeface="Cambria" pitchFamily="34" charset="-122"/>
                <a:cs typeface="Cambria" pitchFamily="34" charset="-120"/>
              </a:rPr>
              <a:t>6</a:t>
            </a:r>
            <a:endParaRPr lang="en-US" sz="1600" dirty="0"/>
          </a:p>
        </p:txBody>
      </p:sp>
      <p:sp>
        <p:nvSpPr>
          <p:cNvPr id="26" name="Text 24"/>
          <p:cNvSpPr txBox="1"/>
          <p:nvPr/>
        </p:nvSpPr>
        <p:spPr>
          <a:xfrm>
            <a:off x="5440680" y="3429000"/>
            <a:ext cx="3108960" cy="960120"/>
          </a:xfrm>
          <a:prstGeom prst="rect">
            <a:avLst/>
          </a:prstGeom>
          <a:noFill/>
          <a:ln/>
        </p:spPr>
        <p:txBody>
          <a:bodyPr wrap="square" lIns="0" tIns="0" rIns="0" bIns="0" rtlCol="0" anchor="ctr"/>
          <a:lstStyle/>
          <a:p>
            <a:pPr marL="0" indent="0">
              <a:buNone/>
            </a:pPr>
            <a:r>
              <a:rPr lang="en-US" sz="1400" b="1" dirty="0">
                <a:solidFill>
                  <a:srgbClr val="262626"/>
                </a:solidFill>
                <a:latin typeface="Calibri" pitchFamily="34" charset="0"/>
                <a:ea typeface="Calibri" pitchFamily="34" charset="-122"/>
                <a:cs typeface="Calibri" pitchFamily="34" charset="-120"/>
              </a:rPr>
              <a:t>Track and pilot</a:t>
            </a:r>
            <a:endParaRPr lang="en-US" sz="1400" dirty="0"/>
          </a:p>
          <a:p>
            <a:pPr marL="0" indent="0">
              <a:buNone/>
            </a:pPr>
            <a:r>
              <a:rPr lang="en-US" sz="1200" dirty="0">
                <a:solidFill>
                  <a:srgbClr val="6B6B6B"/>
                </a:solidFill>
                <a:latin typeface="Calibri" pitchFamily="34" charset="0"/>
                <a:ea typeface="Calibri" pitchFamily="34" charset="-122"/>
                <a:cs typeface="Calibri" pitchFamily="34" charset="-120"/>
              </a:rPr>
              <a:t>Pilot with control groups; monitor churn on the live dashboard.</a:t>
            </a:r>
            <a:endParaRPr lang="en-US" sz="1400" dirty="0"/>
          </a:p>
        </p:txBody>
      </p:sp>
      <p:sp>
        <p:nvSpPr>
          <p:cNvPr id="27"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3" name="Text 1"/>
          <p:cNvSpPr txBox="1"/>
          <p:nvPr/>
        </p:nvSpPr>
        <p:spPr>
          <a:xfrm>
            <a:off x="548640" y="1188720"/>
            <a:ext cx="8046720" cy="15544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Churn is concentrated in customers aged 50+, in Germany, with one or 3–4 products, or inactive.</a:t>
            </a:r>
            <a:endParaRPr lang="en-US" sz="18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Credit score, salary, tenure and card ownership are weak signals.</a:t>
            </a:r>
            <a:endParaRPr lang="en-US" sz="18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Retention, not just acquisition, is the lever to pull.</a:t>
            </a:r>
            <a:endParaRPr lang="en-US" sz="1800" dirty="0"/>
          </a:p>
        </p:txBody>
      </p:sp>
      <p:sp>
        <p:nvSpPr>
          <p:cNvPr id="4" name="Limitations card"/>
          <p:cNvSpPr/>
          <p:nvPr/>
        </p:nvSpPr>
        <p:spPr>
          <a:xfrm>
            <a:off x="548640" y="3017520"/>
            <a:ext cx="8046720" cy="1325880"/>
          </a:xfrm>
          <a:prstGeom prst="roundRect">
            <a:avLst>
              <a:gd name="adj" fmla="val 5517"/>
            </a:avLst>
          </a:prstGeom>
          <a:solidFill>
            <a:srgbClr val="3A3A3A"/>
          </a:solidFill>
          <a:ln w="12700">
            <a:solidFill>
              <a:srgbClr val="3A3A3A"/>
            </a:solidFill>
            <a:prstDash val="solid"/>
          </a:ln>
        </p:spPr>
      </p:sp>
      <p:sp>
        <p:nvSpPr>
          <p:cNvPr id="5" name="Text 3"/>
          <p:cNvSpPr txBox="1"/>
          <p:nvPr/>
        </p:nvSpPr>
        <p:spPr>
          <a:xfrm>
            <a:off x="777240" y="3108960"/>
            <a:ext cx="7589520" cy="365760"/>
          </a:xfrm>
          <a:prstGeom prst="rect">
            <a:avLst/>
          </a:prstGeom>
          <a:noFill/>
          <a:ln/>
        </p:spPr>
        <p:txBody>
          <a:bodyPr wrap="square" lIns="0" tIns="0" rIns="0" bIns="0" rtlCol="0" anchor="ctr"/>
          <a:lstStyle/>
          <a:p>
            <a:pPr marL="0" indent="0">
              <a:buNone/>
            </a:pPr>
            <a:r>
              <a:rPr lang="en-US" sz="1600" b="1" dirty="0">
                <a:solidFill>
                  <a:srgbClr val="E0C22E"/>
                </a:solidFill>
                <a:latin typeface="Cambria" pitchFamily="34" charset="0"/>
                <a:ea typeface="Cambria" pitchFamily="34" charset="-122"/>
                <a:cs typeface="Cambria" pitchFamily="34" charset="-120"/>
              </a:rPr>
              <a:t>Data gaps to close</a:t>
            </a:r>
            <a:endParaRPr lang="en-US" sz="1600" dirty="0"/>
          </a:p>
        </p:txBody>
      </p:sp>
      <p:sp>
        <p:nvSpPr>
          <p:cNvPr id="6" name="Text 4"/>
          <p:cNvSpPr txBox="1"/>
          <p:nvPr/>
        </p:nvSpPr>
        <p:spPr>
          <a:xfrm>
            <a:off x="777240" y="3474720"/>
            <a:ext cx="7589520" cy="7772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Exit reasons and dates, campaign records, product names and transactions would turn these patterns into confirmed causes. Tenure (3–7 years) also conflicts with join dates and should be audited.</a:t>
            </a:r>
            <a:endParaRPr lang="en-US" sz="1400" dirty="0"/>
          </a:p>
        </p:txBody>
      </p:sp>
      <p:sp>
        <p:nvSpPr>
          <p:cNvPr id="7" name="Text 5"/>
          <p:cNvSpPr txBox="1"/>
          <p:nvPr/>
        </p:nvSpPr>
        <p:spPr>
          <a:xfrm>
            <a:off x="548640" y="4526280"/>
            <a:ext cx="8046720" cy="320040"/>
          </a:xfrm>
          <a:prstGeom prst="rect">
            <a:avLst/>
          </a:prstGeom>
          <a:noFill/>
          <a:ln/>
        </p:spPr>
        <p:txBody>
          <a:bodyPr wrap="square" lIns="0" tIns="0" rIns="0" bIns="0" rtlCol="0" anchor="ctr"/>
          <a:lstStyle/>
          <a:p>
            <a:pPr marL="0" indent="0">
              <a:buNone/>
            </a:pPr>
            <a:r>
              <a:rPr lang="en-US" sz="1300" dirty="0">
                <a:solidFill>
                  <a:srgbClr val="B8B8B8"/>
                </a:solidFill>
                <a:latin typeface="Calibri" pitchFamily="34" charset="0"/>
                <a:ea typeface="Calibri" pitchFamily="34" charset="-122"/>
                <a:cs typeface="Calibri" pitchFamily="34" charset="-120"/>
              </a:rPr>
              <a:t>Thank you  |  Questions?</a:t>
            </a:r>
            <a:endParaRPr lang="en-US" sz="1300" dirty="0"/>
          </a:p>
        </p:txBody>
      </p:sp>
    </p:spTree>
  </p:cSld>
  <p:clrMapOvr>
    <a:masterClrMapping/>
  </p:clrMapOvr>
</p:sld>
</file>

<file path=ppt/theme/theme1.xml><?xml version="1.0" encoding="utf-8"?>
<a:theme xmlns:a="http://schemas.openxmlformats.org/drawingml/2006/main" name="Bank Churn Gold">
  <a:themeElements>
    <a:clrScheme name="Bank Churn Gold">
      <a:dk1>
        <a:srgbClr val="262626"/>
      </a:dk1>
      <a:lt1>
        <a:srgbClr val="FFFFFF"/>
      </a:lt1>
      <a:dk2>
        <a:srgbClr val="2B2B2B"/>
      </a:dk2>
      <a:lt2>
        <a:srgbClr val="F3F3F3"/>
      </a:lt2>
      <a:accent1>
        <a:srgbClr val="E0C22E"/>
      </a:accent1>
      <a:accent2>
        <a:srgbClr val="B8B8B8"/>
      </a:accent2>
      <a:accent3>
        <a:srgbClr val="8A7410"/>
      </a:accent3>
      <a:accent4>
        <a:srgbClr val="C0392B"/>
      </a:accent4>
      <a:accent5>
        <a:srgbClr val="6B6B6B"/>
      </a:accent5>
      <a:accent6>
        <a:srgbClr val="F1E39A"/>
      </a:accent6>
      <a:hlink>
        <a:srgbClr val="8A7410"/>
      </a:hlink>
      <a:folHlink>
        <a:srgbClr val="6B6B6B"/>
      </a:folHlink>
    </a:clrScheme>
    <a:fontScheme name="Bank Churn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1295</Words>
  <Application>Microsoft Office PowerPoint</Application>
  <PresentationFormat>On-screen Show (16:9)</PresentationFormat>
  <Paragraphs>142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Bank Churn Gold</vt:lpstr>
      <vt:lpstr>Turning customer churn into retention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Customer Churn Analysis</dc:title>
  <dc:subject>PptxGenJS Presentation</dc:subject>
  <dc:creator>Dee</dc:creator>
  <cp:lastModifiedBy>deeksha bk</cp:lastModifiedBy>
  <cp:revision>2</cp:revision>
  <dcterms:created xsi:type="dcterms:W3CDTF">2026-10-16T18:57:01Z</dcterms:created>
  <dcterms:modified xsi:type="dcterms:W3CDTF">2026-10-16T19:10:29Z</dcterms:modified>
</cp:coreProperties>
</file>